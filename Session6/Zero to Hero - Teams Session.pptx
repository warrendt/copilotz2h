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5"/>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 id="2586" r:id="rId30"/>
    <p:sldId id="2587" r:id="rId31"/>
    <p:sldId id="2588" r:id="rId32"/>
    <p:sldId id="2589" r:id="rId33"/>
    <p:sldId id="259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crosoft 365 Copilot in Teams: Licensing &amp; Features Deep Dive" id="{E38459C0-5A75-427F-942D-2D7B4D0612F5}">
          <p14:sldIdLst>
            <p14:sldId id="2561"/>
          </p14:sldIdLst>
        </p14:section>
        <p14:section name="Introduction and Agenda" id="{09CA1DE5-C1E1-4339-8EA7-19A8F6E28085}">
          <p14:sldIdLst>
            <p14:sldId id="2562"/>
            <p14:sldId id="2563"/>
            <p14:sldId id="2564"/>
          </p14:sldIdLst>
        </p14:section>
        <p14:section name="Feature and Policy Deep Dive" id="{73E55E68-3FF7-4261-AEE0-8887D220F2B6}">
          <p14:sldIdLst>
            <p14:sldId id="2565"/>
            <p14:sldId id="2566"/>
            <p14:sldId id="2567"/>
            <p14:sldId id="2568"/>
          </p14:sldIdLst>
        </p14:section>
        <p14:section name="Copilot Agents and Capabilities" id="{3A6A9153-F1B8-42CC-9844-1F15F417267F}">
          <p14:sldIdLst>
            <p14:sldId id="2569"/>
            <p14:sldId id="2570"/>
            <p14:sldId id="2571"/>
            <p14:sldId id="2572"/>
          </p14:sldIdLst>
        </p14:section>
        <p14:section name="Mixed License Scenarios" id="{605A8CA5-6D5F-4563-BD73-74F4A6A57F11}">
          <p14:sldIdLst>
            <p14:sldId id="2573"/>
            <p14:sldId id="2574"/>
            <p14:sldId id="2575"/>
            <p14:sldId id="2576"/>
          </p14:sldIdLst>
        </p14:section>
        <p14:section name="Voice and Calling Features" id="{2167D866-F03E-4717-B20E-A911DCD9542B}">
          <p14:sldIdLst>
            <p14:sldId id="2577"/>
            <p14:sldId id="2578"/>
            <p14:sldId id="2579"/>
          </p14:sldIdLst>
        </p14:section>
        <p14:section name="Advanced Controls and Compliance" id="{0680E1B1-B5A9-43DD-938C-696B84632E1A}">
          <p14:sldIdLst>
            <p14:sldId id="2580"/>
            <p14:sldId id="2581"/>
            <p14:sldId id="2582"/>
            <p14:sldId id="2583"/>
            <p14:sldId id="2584"/>
          </p14:sldIdLst>
        </p14:section>
        <p14:section name="Implementation Guidance" id="{2033E831-4671-4B1F-B5ED-DD0E9AA052AE}">
          <p14:sldIdLst>
            <p14:sldId id="2585"/>
            <p14:sldId id="2586"/>
            <p14:sldId id="2587"/>
          </p14:sldIdLst>
        </p14:section>
        <p14:section name="Conclusion and Q&amp;A" id="{1A9D0D49-B157-4DE5-8A98-FF27249C89A6}">
          <p14:sldIdLst>
            <p14:sldId id="2588"/>
            <p14:sldId id="2589"/>
            <p14:sldId id="25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1E22E6-7D3F-4709-993D-4C41004DA1EE}" v="31" dt="2025-09-15T16:57:48.280"/>
    <p1510:client id="{4C3C1C17-C1A4-2648-8920-0DF22CC679F9}" v="74" dt="2025-09-15T18:11:30.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79" autoAdjust="0"/>
    <p:restoredTop sz="77008"/>
  </p:normalViewPr>
  <p:slideViewPr>
    <p:cSldViewPr>
      <p:cViewPr varScale="1">
        <p:scale>
          <a:sx n="95" d="100"/>
          <a:sy n="95" d="100"/>
        </p:scale>
        <p:origin x="1392"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8A6B05-4D90-4010-A75E-B3116025A981}" type="datetimeFigureOut">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C13EB4-2339-405E-9E73-D2562BDE26EE}" type="slidenum">
              <a:t>‹#›</a:t>
            </a:fld>
            <a:endParaRPr lang="en-US"/>
          </a:p>
        </p:txBody>
      </p:sp>
    </p:spTree>
    <p:extLst>
      <p:ext uri="{BB962C8B-B14F-4D97-AF65-F5344CB8AC3E}">
        <p14:creationId xmlns:p14="http://schemas.microsoft.com/office/powerpoint/2010/main" val="274653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20A06-D5A0-4DA8-A012-E02E07ACA68D}" type="slidenum">
              <a:t>1</a:t>
            </a:fld>
            <a:endParaRPr lang="en-US"/>
          </a:p>
        </p:txBody>
      </p:sp>
    </p:spTree>
    <p:extLst>
      <p:ext uri="{BB962C8B-B14F-4D97-AF65-F5344CB8AC3E}">
        <p14:creationId xmlns:p14="http://schemas.microsoft.com/office/powerpoint/2010/main" val="999825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Agenda Overview</a:t>
            </a:r>
          </a:p>
        </p:txBody>
      </p:sp>
      <p:sp>
        <p:nvSpPr>
          <p:cNvPr id="4" name="Slide Number Placeholder 3"/>
          <p:cNvSpPr>
            <a:spLocks noGrp="1"/>
          </p:cNvSpPr>
          <p:nvPr>
            <p:ph type="sldNum" sz="quarter" idx="5"/>
          </p:nvPr>
        </p:nvSpPr>
        <p:spPr/>
        <p:txBody>
          <a:bodyPr/>
          <a:lstStyle/>
          <a:p>
            <a:fld id="{E9120A06-D5A0-4DA8-A012-E02E07ACA68D}" type="slidenum">
              <a:t>2</a:t>
            </a:fld>
            <a:endParaRPr lang="en-US"/>
          </a:p>
        </p:txBody>
      </p:sp>
    </p:spTree>
    <p:extLst>
      <p:ext uri="{BB962C8B-B14F-4D97-AF65-F5344CB8AC3E}">
        <p14:creationId xmlns:p14="http://schemas.microsoft.com/office/powerpoint/2010/main" val="911882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webinar on Microsoft 365 Copilot in Teams, focusing on licensing scenarios and advanced features. This session aims to clarify what users receive under different license combinations, emphasizing practical implementations over theoretical compliance. We'll explore the complexities of mixed license environments and how they affect user experiences. The goal is to provide real-world insights that go beyond marketing materials, helping stakeholders understand the nuances of Copilot deployment and usage.</a:t>
            </a:r>
          </a:p>
          <a:p>
            <a:endParaRPr lang="en-US" dirty="0"/>
          </a:p>
          <a:p>
            <a:r>
              <a:rPr lang="en-US" b="1" dirty="0"/>
              <a:t>Slide 1: Title Slide</a:t>
            </a:r>
          </a:p>
          <a:p>
            <a:r>
              <a:rPr lang="en-US" b="1" dirty="0"/>
              <a:t>Microsoft 365 Copilot in Teams</a:t>
            </a:r>
            <a:br>
              <a:rPr lang="en-US" dirty="0"/>
            </a:br>
            <a:r>
              <a:rPr lang="en-US" b="1" dirty="0"/>
              <a:t>Licensing Scenarios &amp; Advanced Features</a:t>
            </a:r>
            <a:br>
              <a:rPr lang="en-US" dirty="0"/>
            </a:br>
            <a:r>
              <a:rPr lang="en-US" i="1" dirty="0"/>
              <a:t>Understanding what your users get (and don't get) with different license combinations</a:t>
            </a:r>
            <a:endParaRPr lang="en-US" dirty="0"/>
          </a:p>
          <a:p>
            <a:r>
              <a:rPr lang="en-US" b="1" dirty="0"/>
              <a:t>Speaker Notes:</a:t>
            </a:r>
            <a:endParaRPr lang="en-US" dirty="0"/>
          </a:p>
          <a:p>
            <a:r>
              <a:rPr lang="en-US" dirty="0"/>
              <a:t>Welcome everyone to today's session on Copilot licensing complexities</a:t>
            </a:r>
          </a:p>
          <a:p>
            <a:r>
              <a:rPr lang="en-US" dirty="0"/>
              <a:t>Today we're focusing on practical scenarios rather than general compliance</a:t>
            </a:r>
          </a:p>
          <a:p>
            <a:r>
              <a:rPr lang="en-US" dirty="0"/>
              <a:t>We'll cover the "crazy license stuff" - mixed license environments and what actually happens</a:t>
            </a:r>
          </a:p>
          <a:p>
            <a:r>
              <a:rPr lang="en-US" dirty="0"/>
              <a:t>This is about real-world implementations, not marketing materials</a:t>
            </a:r>
          </a:p>
          <a:p>
            <a:endParaRPr lang="en-US" dirty="0"/>
          </a:p>
        </p:txBody>
      </p:sp>
      <p:sp>
        <p:nvSpPr>
          <p:cNvPr id="4" name="Slide Number Placeholder 3"/>
          <p:cNvSpPr>
            <a:spLocks noGrp="1"/>
          </p:cNvSpPr>
          <p:nvPr>
            <p:ph type="sldNum" sz="quarter" idx="5"/>
          </p:nvPr>
        </p:nvSpPr>
        <p:spPr/>
        <p:txBody>
          <a:bodyPr/>
          <a:lstStyle/>
          <a:p>
            <a:fld id="{E9120A06-D5A0-4DA8-A012-E02E07ACA68D}" type="slidenum">
              <a:t>3</a:t>
            </a:fld>
            <a:endParaRPr lang="en-US"/>
          </a:p>
        </p:txBody>
      </p:sp>
    </p:spTree>
    <p:extLst>
      <p:ext uri="{BB962C8B-B14F-4D97-AF65-F5344CB8AC3E}">
        <p14:creationId xmlns:p14="http://schemas.microsoft.com/office/powerpoint/2010/main" val="3684256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webinar will cover six key areas: (1) differences between Copilot and Teams Premium licensing, (2) a deep dive into Copilot agents including Facilitator, Interpreter, and Intelligence Recap, (3) mixed license scenarios where organizers and attendees have different licenses, (4) voice and calling features with PSTN requirements, (5) data retention modes such as 'Only During' versus 'During &amp; After' meetings, and (6) a Q&amp;A session. The focus will be on practical implementation and real-world examples to aid stakeholder understanding.</a:t>
            </a:r>
          </a:p>
        </p:txBody>
      </p:sp>
      <p:sp>
        <p:nvSpPr>
          <p:cNvPr id="4" name="Slide Number Placeholder 3"/>
          <p:cNvSpPr>
            <a:spLocks noGrp="1"/>
          </p:cNvSpPr>
          <p:nvPr>
            <p:ph type="sldNum" sz="quarter" idx="5"/>
          </p:nvPr>
        </p:nvSpPr>
        <p:spPr/>
        <p:txBody>
          <a:bodyPr/>
          <a:lstStyle/>
          <a:p>
            <a:fld id="{E9120A06-D5A0-4DA8-A012-E02E07ACA68D}" type="slidenum">
              <a:t>4</a:t>
            </a:fld>
            <a:endParaRPr lang="en-US"/>
          </a:p>
        </p:txBody>
      </p:sp>
    </p:spTree>
    <p:extLst>
      <p:ext uri="{BB962C8B-B14F-4D97-AF65-F5344CB8AC3E}">
        <p14:creationId xmlns:p14="http://schemas.microsoft.com/office/powerpoint/2010/main" val="2616230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Policy Changes, Copilot vs Teams Premium Features, Copilot Operational Modes</a:t>
            </a:r>
          </a:p>
        </p:txBody>
      </p:sp>
      <p:sp>
        <p:nvSpPr>
          <p:cNvPr id="4" name="Slide Number Placeholder 3"/>
          <p:cNvSpPr>
            <a:spLocks noGrp="1"/>
          </p:cNvSpPr>
          <p:nvPr>
            <p:ph type="sldNum" sz="quarter" idx="5"/>
          </p:nvPr>
        </p:nvSpPr>
        <p:spPr/>
        <p:txBody>
          <a:bodyPr/>
          <a:lstStyle/>
          <a:p>
            <a:fld id="{E9120A06-D5A0-4DA8-A012-E02E07ACA68D}" type="slidenum">
              <a:t>5</a:t>
            </a:fld>
            <a:endParaRPr lang="en-US"/>
          </a:p>
        </p:txBody>
      </p:sp>
    </p:spTree>
    <p:extLst>
      <p:ext uri="{BB962C8B-B14F-4D97-AF65-F5344CB8AC3E}">
        <p14:creationId xmlns:p14="http://schemas.microsoft.com/office/powerpoint/2010/main" val="34960594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Microsoft introduced several critical updates in February 2025 that impact Copilot functionality. These include separate policies for meetings versus events, transcription enabled by default for new tenants, voice/face profile enrollment for Teams Rooms, and a change in meeting organizer ownership effective June 2024. These changes influence how licensing scenarios play out, especially regarding data retention and access to meeting artifacts. Understanding these updates is essential for configuring Copilot effectively in enterprise environments.</a:t>
            </a:r>
          </a:p>
        </p:txBody>
      </p:sp>
      <p:sp>
        <p:nvSpPr>
          <p:cNvPr id="4" name="Slide Number Placeholder 3"/>
          <p:cNvSpPr>
            <a:spLocks noGrp="1"/>
          </p:cNvSpPr>
          <p:nvPr>
            <p:ph type="sldNum" sz="quarter" idx="5"/>
          </p:nvPr>
        </p:nvSpPr>
        <p:spPr/>
        <p:txBody>
          <a:bodyPr/>
          <a:lstStyle/>
          <a:p>
            <a:fld id="{E9120A06-D5A0-4DA8-A012-E02E07ACA68D}" type="slidenum">
              <a:t>6</a:t>
            </a:fld>
            <a:endParaRPr lang="en-US"/>
          </a:p>
        </p:txBody>
      </p:sp>
    </p:spTree>
    <p:extLst>
      <p:ext uri="{BB962C8B-B14F-4D97-AF65-F5344CB8AC3E}">
        <p14:creationId xmlns:p14="http://schemas.microsoft.com/office/powerpoint/2010/main" val="1782553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365 Copilot and Teams Premium offer distinct features. Teams Premium provides standardized AI-generated notes and tasks, while Copilot enables custom questions and personalized responses. Copilot includes private chat, Facilitator and Interpreter agents, and real-time question capabilities. Facilitator acts as a public AI assistant visible to all meeting participants, whereas Copilot responses are private. This differentiation is crucial for organizations deciding between licensing options based on user needs and meeting types.</a:t>
            </a:r>
          </a:p>
        </p:txBody>
      </p:sp>
      <p:sp>
        <p:nvSpPr>
          <p:cNvPr id="4" name="Slide Number Placeholder 3"/>
          <p:cNvSpPr>
            <a:spLocks noGrp="1"/>
          </p:cNvSpPr>
          <p:nvPr>
            <p:ph type="sldNum" sz="quarter" idx="5"/>
          </p:nvPr>
        </p:nvSpPr>
        <p:spPr/>
        <p:txBody>
          <a:bodyPr/>
          <a:lstStyle/>
          <a:p>
            <a:fld id="{E9120A06-D5A0-4DA8-A012-E02E07ACA68D}" type="slidenum">
              <a:t>7</a:t>
            </a:fld>
            <a:endParaRPr lang="en-US"/>
          </a:p>
        </p:txBody>
      </p:sp>
    </p:spTree>
    <p:extLst>
      <p:ext uri="{BB962C8B-B14F-4D97-AF65-F5344CB8AC3E}">
        <p14:creationId xmlns:p14="http://schemas.microsoft.com/office/powerpoint/2010/main" val="3434371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operates in three modes: Record Mode, Transcribe Mode, and 'Allow Copilot' Mode. Record Mode captures video, audio, and transcripts for full compliance. Transcribe Mode converts speech to text without audio recording. 'Allow Copilot' Mode automatically enables transcription when Copilot is activated, offering options for temporary or retained transcripts. These modes affect data retention and eDiscovery capabilities, making them critical for compliance and privacy-conscious organizations.</a:t>
            </a:r>
          </a:p>
        </p:txBody>
      </p:sp>
      <p:sp>
        <p:nvSpPr>
          <p:cNvPr id="4" name="Slide Number Placeholder 3"/>
          <p:cNvSpPr>
            <a:spLocks noGrp="1"/>
          </p:cNvSpPr>
          <p:nvPr>
            <p:ph type="sldNum" sz="quarter" idx="5"/>
          </p:nvPr>
        </p:nvSpPr>
        <p:spPr/>
        <p:txBody>
          <a:bodyPr/>
          <a:lstStyle/>
          <a:p>
            <a:fld id="{E9120A06-D5A0-4DA8-A012-E02E07ACA68D}" type="slidenum">
              <a:t>8</a:t>
            </a:fld>
            <a:endParaRPr lang="en-US"/>
          </a:p>
        </p:txBody>
      </p:sp>
    </p:spTree>
    <p:extLst>
      <p:ext uri="{BB962C8B-B14F-4D97-AF65-F5344CB8AC3E}">
        <p14:creationId xmlns:p14="http://schemas.microsoft.com/office/powerpoint/2010/main" val="4179812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Facilitator Agent, Interpreter Agent, Intelligence Recap</a:t>
            </a:r>
          </a:p>
        </p:txBody>
      </p:sp>
      <p:sp>
        <p:nvSpPr>
          <p:cNvPr id="4" name="Slide Number Placeholder 3"/>
          <p:cNvSpPr>
            <a:spLocks noGrp="1"/>
          </p:cNvSpPr>
          <p:nvPr>
            <p:ph type="sldNum" sz="quarter" idx="5"/>
          </p:nvPr>
        </p:nvSpPr>
        <p:spPr/>
        <p:txBody>
          <a:bodyPr/>
          <a:lstStyle/>
          <a:p>
            <a:fld id="{E9120A06-D5A0-4DA8-A012-E02E07ACA68D}" type="slidenum">
              <a:t>9</a:t>
            </a:fld>
            <a:endParaRPr lang="en-US"/>
          </a:p>
        </p:txBody>
      </p:sp>
    </p:spTree>
    <p:extLst>
      <p:ext uri="{BB962C8B-B14F-4D97-AF65-F5344CB8AC3E}">
        <p14:creationId xmlns:p14="http://schemas.microsoft.com/office/powerpoint/2010/main" val="3288780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Facilitator Agent differs from regular Copilot by providing public responses visible to all meeting participants. It acts like an AI meeting participant, continuously updating notes and action items. These notes are stored in the initiating user's OneDrive as .loop files. Facilitator enhances collaboration by generating shared insights, making it a valuable tool for meetings where transparency and collective understanding are essential.</a:t>
            </a:r>
          </a:p>
        </p:txBody>
      </p:sp>
      <p:sp>
        <p:nvSpPr>
          <p:cNvPr id="4" name="Slide Number Placeholder 3"/>
          <p:cNvSpPr>
            <a:spLocks noGrp="1"/>
          </p:cNvSpPr>
          <p:nvPr>
            <p:ph type="sldNum" sz="quarter" idx="5"/>
          </p:nvPr>
        </p:nvSpPr>
        <p:spPr/>
        <p:txBody>
          <a:bodyPr/>
          <a:lstStyle/>
          <a:p>
            <a:fld id="{E9120A06-D5A0-4DA8-A012-E02E07ACA68D}" type="slidenum">
              <a:t>10</a:t>
            </a:fld>
            <a:endParaRPr lang="en-US"/>
          </a:p>
        </p:txBody>
      </p:sp>
    </p:spTree>
    <p:extLst>
      <p:ext uri="{BB962C8B-B14F-4D97-AF65-F5344CB8AC3E}">
        <p14:creationId xmlns:p14="http://schemas.microsoft.com/office/powerpoint/2010/main" val="1792454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Interpreter Agent supports real-time voice translation in nine languages, including English, Italian, German, French, Portuguese (Brazil), Japanese, Spanish, Chinese (Mandarin), and Korean. It works alongside live captions and transcription, allowing participants to hear translated audio in their preferred language. A Copilot license is required, and admins can control voice representation settings. This feature is particularly beneficial for global organizations with multilingual teams.</a:t>
            </a:r>
          </a:p>
        </p:txBody>
      </p:sp>
      <p:sp>
        <p:nvSpPr>
          <p:cNvPr id="4" name="Slide Number Placeholder 3"/>
          <p:cNvSpPr>
            <a:spLocks noGrp="1"/>
          </p:cNvSpPr>
          <p:nvPr>
            <p:ph type="sldNum" sz="quarter" idx="5"/>
          </p:nvPr>
        </p:nvSpPr>
        <p:spPr/>
        <p:txBody>
          <a:bodyPr/>
          <a:lstStyle/>
          <a:p>
            <a:fld id="{E9120A06-D5A0-4DA8-A012-E02E07ACA68D}" type="slidenum">
              <a:t>11</a:t>
            </a:fld>
            <a:endParaRPr lang="en-US"/>
          </a:p>
        </p:txBody>
      </p:sp>
    </p:spTree>
    <p:extLst>
      <p:ext uri="{BB962C8B-B14F-4D97-AF65-F5344CB8AC3E}">
        <p14:creationId xmlns:p14="http://schemas.microsoft.com/office/powerpoint/2010/main" val="1274181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Copilot's Intelligence Recap builds on Teams Premium by adding custom question capabilities, multilingual support, and integration with meeting chat content. It provides personalized insights based on the user's role and allows follow-up questions post-meeting. This evolution enhances the value of meeting recaps, making them more relevant and actionable for individual users.</a:t>
            </a:r>
          </a:p>
        </p:txBody>
      </p:sp>
      <p:sp>
        <p:nvSpPr>
          <p:cNvPr id="4" name="Slide Number Placeholder 3"/>
          <p:cNvSpPr>
            <a:spLocks noGrp="1"/>
          </p:cNvSpPr>
          <p:nvPr>
            <p:ph type="sldNum" sz="quarter" idx="5"/>
          </p:nvPr>
        </p:nvSpPr>
        <p:spPr/>
        <p:txBody>
          <a:bodyPr/>
          <a:lstStyle/>
          <a:p>
            <a:fld id="{E9120A06-D5A0-4DA8-A012-E02E07ACA68D}" type="slidenum">
              <a:t>12</a:t>
            </a:fld>
            <a:endParaRPr lang="en-US"/>
          </a:p>
        </p:txBody>
      </p:sp>
    </p:spTree>
    <p:extLst>
      <p:ext uri="{BB962C8B-B14F-4D97-AF65-F5344CB8AC3E}">
        <p14:creationId xmlns:p14="http://schemas.microsoft.com/office/powerpoint/2010/main" val="904989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License Impact on Attendees, Scenario 1: Mixed License Meeting, Scenario 2: 'Only During Meeting' Mode</a:t>
            </a:r>
          </a:p>
        </p:txBody>
      </p:sp>
      <p:sp>
        <p:nvSpPr>
          <p:cNvPr id="4" name="Slide Number Placeholder 3"/>
          <p:cNvSpPr>
            <a:spLocks noGrp="1"/>
          </p:cNvSpPr>
          <p:nvPr>
            <p:ph type="sldNum" sz="quarter" idx="5"/>
          </p:nvPr>
        </p:nvSpPr>
        <p:spPr/>
        <p:txBody>
          <a:bodyPr/>
          <a:lstStyle/>
          <a:p>
            <a:fld id="{E9120A06-D5A0-4DA8-A012-E02E07ACA68D}" type="slidenum">
              <a:t>13</a:t>
            </a:fld>
            <a:endParaRPr lang="en-US"/>
          </a:p>
        </p:txBody>
      </p:sp>
    </p:spTree>
    <p:extLst>
      <p:ext uri="{BB962C8B-B14F-4D97-AF65-F5344CB8AC3E}">
        <p14:creationId xmlns:p14="http://schemas.microsoft.com/office/powerpoint/2010/main" val="3944046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mixed license scenarios, the meeting organizer's license and settings determine attendee experiences. Non-licensed attendees cannot access private Copilot responses or Interpreter features but can view Facilitator interactions. Transcript and recap access depend on organizer permissions. Microsoft introduced access control options in June 2024, allowing organizers to restrict artifact access to everyone, co-organizers, or specific individuals. These controls enable flexible and secure meeting configurations.</a:t>
            </a:r>
          </a:p>
        </p:txBody>
      </p:sp>
      <p:sp>
        <p:nvSpPr>
          <p:cNvPr id="4" name="Slide Number Placeholder 3"/>
          <p:cNvSpPr>
            <a:spLocks noGrp="1"/>
          </p:cNvSpPr>
          <p:nvPr>
            <p:ph type="sldNum" sz="quarter" idx="5"/>
          </p:nvPr>
        </p:nvSpPr>
        <p:spPr/>
        <p:txBody>
          <a:bodyPr/>
          <a:lstStyle/>
          <a:p>
            <a:fld id="{E9120A06-D5A0-4DA8-A012-E02E07ACA68D}" type="slidenum">
              <a:t>14</a:t>
            </a:fld>
            <a:endParaRPr lang="en-US"/>
          </a:p>
        </p:txBody>
      </p:sp>
    </p:spTree>
    <p:extLst>
      <p:ext uri="{BB962C8B-B14F-4D97-AF65-F5344CB8AC3E}">
        <p14:creationId xmlns:p14="http://schemas.microsoft.com/office/powerpoint/2010/main" val="2719692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a typical enterprise scenario, a meeting organized by a Copilot-licensed user includes attendees with and without premium licenses. During the meeting, licensed users receive private Copilot assistance, while all attendees can interact with the Facilitator. Post-meeting access to transcripts and recordings is determined by the organizer's settings. Only licensed users receive intelligent recap and can query Copilot. Facilitator notes are accessible to all, stored in the organizer's OneDrive.</a:t>
            </a:r>
          </a:p>
        </p:txBody>
      </p:sp>
      <p:sp>
        <p:nvSpPr>
          <p:cNvPr id="4" name="Slide Number Placeholder 3"/>
          <p:cNvSpPr>
            <a:spLocks noGrp="1"/>
          </p:cNvSpPr>
          <p:nvPr>
            <p:ph type="sldNum" sz="quarter" idx="5"/>
          </p:nvPr>
        </p:nvSpPr>
        <p:spPr/>
        <p:txBody>
          <a:bodyPr/>
          <a:lstStyle/>
          <a:p>
            <a:fld id="{E9120A06-D5A0-4DA8-A012-E02E07ACA68D}" type="slidenum">
              <a:t>15</a:t>
            </a:fld>
            <a:endParaRPr lang="en-US"/>
          </a:p>
        </p:txBody>
      </p:sp>
    </p:spTree>
    <p:extLst>
      <p:ext uri="{BB962C8B-B14F-4D97-AF65-F5344CB8AC3E}">
        <p14:creationId xmlns:p14="http://schemas.microsoft.com/office/powerpoint/2010/main" val="2297948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mode is ideal for privacy-conscious organizations and sensitive meetings. It enables Copilot assistance during the meeting but discards all data afterward, including transcripts. No eDiscovery or post-meeting AI capabilities are available. Action items and summaries are generated in real-time but not retained. This approach balances AI benefits with strict data retention policies, making it suitable for regulated industries.</a:t>
            </a:r>
          </a:p>
        </p:txBody>
      </p:sp>
      <p:sp>
        <p:nvSpPr>
          <p:cNvPr id="4" name="Slide Number Placeholder 3"/>
          <p:cNvSpPr>
            <a:spLocks noGrp="1"/>
          </p:cNvSpPr>
          <p:nvPr>
            <p:ph type="sldNum" sz="quarter" idx="5"/>
          </p:nvPr>
        </p:nvSpPr>
        <p:spPr/>
        <p:txBody>
          <a:bodyPr/>
          <a:lstStyle/>
          <a:p>
            <a:fld id="{E9120A06-D5A0-4DA8-A012-E02E07ACA68D}" type="slidenum">
              <a:t>16</a:t>
            </a:fld>
            <a:endParaRPr lang="en-US"/>
          </a:p>
        </p:txBody>
      </p:sp>
    </p:spTree>
    <p:extLst>
      <p:ext uri="{BB962C8B-B14F-4D97-AF65-F5344CB8AC3E}">
        <p14:creationId xmlns:p14="http://schemas.microsoft.com/office/powerpoint/2010/main" val="2932804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Copilot in Calling Scenarios, Teams Phone Device Support</a:t>
            </a:r>
          </a:p>
        </p:txBody>
      </p:sp>
      <p:sp>
        <p:nvSpPr>
          <p:cNvPr id="4" name="Slide Number Placeholder 3"/>
          <p:cNvSpPr>
            <a:spLocks noGrp="1"/>
          </p:cNvSpPr>
          <p:nvPr>
            <p:ph type="sldNum" sz="quarter" idx="5"/>
          </p:nvPr>
        </p:nvSpPr>
        <p:spPr/>
        <p:txBody>
          <a:bodyPr/>
          <a:lstStyle/>
          <a:p>
            <a:fld id="{E9120A06-D5A0-4DA8-A012-E02E07ACA68D}" type="slidenum">
              <a:t>17</a:t>
            </a:fld>
            <a:endParaRPr lang="en-US"/>
          </a:p>
        </p:txBody>
      </p:sp>
    </p:spTree>
    <p:extLst>
      <p:ext uri="{BB962C8B-B14F-4D97-AF65-F5344CB8AC3E}">
        <p14:creationId xmlns:p14="http://schemas.microsoft.com/office/powerpoint/2010/main" val="8684506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Copilot functionality in calling scenarios depends on license combinations. For 1:1 and group VoIP calls, Microsoft 365 and Copilot licenses suffice. PSTN calls require Teams Phone, Calling Plan, and Copilot licenses. Admins can configure policies to enable Copilot with or without transcription, or disable it entirely. These settings differ from meeting policies and are crucial for managing Copilot in voice communications.</a:t>
            </a:r>
          </a:p>
        </p:txBody>
      </p:sp>
      <p:sp>
        <p:nvSpPr>
          <p:cNvPr id="4" name="Slide Number Placeholder 3"/>
          <p:cNvSpPr>
            <a:spLocks noGrp="1"/>
          </p:cNvSpPr>
          <p:nvPr>
            <p:ph type="sldNum" sz="quarter" idx="5"/>
          </p:nvPr>
        </p:nvSpPr>
        <p:spPr/>
        <p:txBody>
          <a:bodyPr/>
          <a:lstStyle/>
          <a:p>
            <a:fld id="{E9120A06-D5A0-4DA8-A012-E02E07ACA68D}" type="slidenum">
              <a:t>18</a:t>
            </a:fld>
            <a:endParaRPr lang="en-US"/>
          </a:p>
        </p:txBody>
      </p:sp>
    </p:spTree>
    <p:extLst>
      <p:ext uri="{BB962C8B-B14F-4D97-AF65-F5344CB8AC3E}">
        <p14:creationId xmlns:p14="http://schemas.microsoft.com/office/powerpoint/2010/main" val="34582185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Copilot is available on physical Teams phone devices when transcription or cloud recording is enabled. Required licenses include Microsoft 365, Teams, Teams Phone, and Copilot. Features include AI-generated call summaries and in-call prompts for summarizing conversations and listing action items. These capabilities are particularly useful for front-desk staff and executive assistants managing high-volume calls.</a:t>
            </a:r>
          </a:p>
        </p:txBody>
      </p:sp>
      <p:sp>
        <p:nvSpPr>
          <p:cNvPr id="4" name="Slide Number Placeholder 3"/>
          <p:cNvSpPr>
            <a:spLocks noGrp="1"/>
          </p:cNvSpPr>
          <p:nvPr>
            <p:ph type="sldNum" sz="quarter" idx="5"/>
          </p:nvPr>
        </p:nvSpPr>
        <p:spPr/>
        <p:txBody>
          <a:bodyPr/>
          <a:lstStyle/>
          <a:p>
            <a:fld id="{E9120A06-D5A0-4DA8-A012-E02E07ACA68D}" type="slidenum">
              <a:t>19</a:t>
            </a:fld>
            <a:endParaRPr lang="en-US"/>
          </a:p>
        </p:txBody>
      </p:sp>
    </p:spTree>
    <p:extLst>
      <p:ext uri="{BB962C8B-B14F-4D97-AF65-F5344CB8AC3E}">
        <p14:creationId xmlns:p14="http://schemas.microsoft.com/office/powerpoint/2010/main" val="64860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Multi-Tenant Organization Support, Storage and Ownership Changes, Granular Access Controls, Compliance and Privacy Controls</a:t>
            </a:r>
          </a:p>
        </p:txBody>
      </p:sp>
      <p:sp>
        <p:nvSpPr>
          <p:cNvPr id="4" name="Slide Number Placeholder 3"/>
          <p:cNvSpPr>
            <a:spLocks noGrp="1"/>
          </p:cNvSpPr>
          <p:nvPr>
            <p:ph type="sldNum" sz="quarter" idx="5"/>
          </p:nvPr>
        </p:nvSpPr>
        <p:spPr/>
        <p:txBody>
          <a:bodyPr/>
          <a:lstStyle/>
          <a:p>
            <a:fld id="{E9120A06-D5A0-4DA8-A012-E02E07ACA68D}" type="slidenum">
              <a:t>20</a:t>
            </a:fld>
            <a:endParaRPr lang="en-US"/>
          </a:p>
        </p:txBody>
      </p:sp>
    </p:spTree>
    <p:extLst>
      <p:ext uri="{BB962C8B-B14F-4D97-AF65-F5344CB8AC3E}">
        <p14:creationId xmlns:p14="http://schemas.microsoft.com/office/powerpoint/2010/main" val="3876936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introduced a new admin policy in 2025 to manage Copilot access for B2B members in multi-tenant organizations. The 'Allow Copilot for B2B members' setting is enabled by default and allows cross-organization Copilot usage. Admins can disable this feature if cross-tenant AI sharing is not desired. This policy is relevant for large enterprises with multiple subsidiaries and ensures secure collaboration across organizational boundaries.</a:t>
            </a:r>
          </a:p>
        </p:txBody>
      </p:sp>
      <p:sp>
        <p:nvSpPr>
          <p:cNvPr id="4" name="Slide Number Placeholder 3"/>
          <p:cNvSpPr>
            <a:spLocks noGrp="1"/>
          </p:cNvSpPr>
          <p:nvPr>
            <p:ph type="sldNum" sz="quarter" idx="5"/>
          </p:nvPr>
        </p:nvSpPr>
        <p:spPr/>
        <p:txBody>
          <a:bodyPr/>
          <a:lstStyle/>
          <a:p>
            <a:fld id="{E9120A06-D5A0-4DA8-A012-E02E07ACA68D}" type="slidenum">
              <a:t>21</a:t>
            </a:fld>
            <a:endParaRPr lang="en-US"/>
          </a:p>
        </p:txBody>
      </p:sp>
    </p:spTree>
    <p:extLst>
      <p:ext uri="{BB962C8B-B14F-4D97-AF65-F5344CB8AC3E}">
        <p14:creationId xmlns:p14="http://schemas.microsoft.com/office/powerpoint/2010/main" val="4250959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Effective June 2024, meeting artifacts such as recordings and transcripts are owned by the meeting organizer and stored in their OneDrive. Co-organizers have editing permissions. For calls, ownership remains with the initiator. Organizers control download permissions and can grant access via Stream. Admin policies can block downloads organization-wide. These changes support better data governance and centralized control over meeting content.</a:t>
            </a:r>
          </a:p>
        </p:txBody>
      </p:sp>
      <p:sp>
        <p:nvSpPr>
          <p:cNvPr id="4" name="Slide Number Placeholder 3"/>
          <p:cNvSpPr>
            <a:spLocks noGrp="1"/>
          </p:cNvSpPr>
          <p:nvPr>
            <p:ph type="sldNum" sz="quarter" idx="5"/>
          </p:nvPr>
        </p:nvSpPr>
        <p:spPr/>
        <p:txBody>
          <a:bodyPr/>
          <a:lstStyle/>
          <a:p>
            <a:fld id="{E9120A06-D5A0-4DA8-A012-E02E07ACA68D}" type="slidenum">
              <a:t>22</a:t>
            </a:fld>
            <a:endParaRPr lang="en-US"/>
          </a:p>
        </p:txBody>
      </p:sp>
    </p:spTree>
    <p:extLst>
      <p:ext uri="{BB962C8B-B14F-4D97-AF65-F5344CB8AC3E}">
        <p14:creationId xmlns:p14="http://schemas.microsoft.com/office/powerpoint/2010/main" val="8574781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Organizers using Copilot or Teams Premium can choose from three access levels for meeting artifacts: Everyone, Organizers and Co-organizers, or Specific People. These controls apply to recordings, transcripts, AI insights, and Copilot responses. Settings must be configured before the meeting starts and cannot be changed afterward. This granularity is essential for managing sensitive content and ensuring appropriate access.</a:t>
            </a:r>
          </a:p>
        </p:txBody>
      </p:sp>
      <p:sp>
        <p:nvSpPr>
          <p:cNvPr id="4" name="Slide Number Placeholder 3"/>
          <p:cNvSpPr>
            <a:spLocks noGrp="1"/>
          </p:cNvSpPr>
          <p:nvPr>
            <p:ph type="sldNum" sz="quarter" idx="5"/>
          </p:nvPr>
        </p:nvSpPr>
        <p:spPr/>
        <p:txBody>
          <a:bodyPr/>
          <a:lstStyle/>
          <a:p>
            <a:fld id="{E9120A06-D5A0-4DA8-A012-E02E07ACA68D}" type="slidenum">
              <a:t>23</a:t>
            </a:fld>
            <a:endParaRPr lang="en-US"/>
          </a:p>
        </p:txBody>
      </p:sp>
    </p:spTree>
    <p:extLst>
      <p:ext uri="{BB962C8B-B14F-4D97-AF65-F5344CB8AC3E}">
        <p14:creationId xmlns:p14="http://schemas.microsoft.com/office/powerpoint/2010/main" val="2947535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Microsoft's transcription management guidance includes notification requirements, consent controls, and data residency options. Participants are notified when recording or transcription starts, and dial-in users receive audio alerts. Explicit consent can be required, with non-consenting users receiving a view-only experience. Consent data is stored in attendance reports. Data residency is determined by the organizer's Preferred Data Location, supporting multi-geo configurations.</a:t>
            </a:r>
          </a:p>
        </p:txBody>
      </p:sp>
      <p:sp>
        <p:nvSpPr>
          <p:cNvPr id="4" name="Slide Number Placeholder 3"/>
          <p:cNvSpPr>
            <a:spLocks noGrp="1"/>
          </p:cNvSpPr>
          <p:nvPr>
            <p:ph type="sldNum" sz="quarter" idx="5"/>
          </p:nvPr>
        </p:nvSpPr>
        <p:spPr/>
        <p:txBody>
          <a:bodyPr/>
          <a:lstStyle/>
          <a:p>
            <a:fld id="{E9120A06-D5A0-4DA8-A012-E02E07ACA68D}" type="slidenum">
              <a:t>24</a:t>
            </a:fld>
            <a:endParaRPr lang="en-US"/>
          </a:p>
        </p:txBody>
      </p:sp>
    </p:spTree>
    <p:extLst>
      <p:ext uri="{BB962C8B-B14F-4D97-AF65-F5344CB8AC3E}">
        <p14:creationId xmlns:p14="http://schemas.microsoft.com/office/powerpoint/2010/main" val="1123235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Pitfalls, Decision Framework</a:t>
            </a:r>
          </a:p>
        </p:txBody>
      </p:sp>
      <p:sp>
        <p:nvSpPr>
          <p:cNvPr id="4" name="Slide Number Placeholder 3"/>
          <p:cNvSpPr>
            <a:spLocks noGrp="1"/>
          </p:cNvSpPr>
          <p:nvPr>
            <p:ph type="sldNum" sz="quarter" idx="5"/>
          </p:nvPr>
        </p:nvSpPr>
        <p:spPr/>
        <p:txBody>
          <a:bodyPr/>
          <a:lstStyle/>
          <a:p>
            <a:fld id="{E9120A06-D5A0-4DA8-A012-E02E07ACA68D}" type="slidenum">
              <a:t>25</a:t>
            </a:fld>
            <a:endParaRPr lang="en-US"/>
          </a:p>
        </p:txBody>
      </p:sp>
    </p:spTree>
    <p:extLst>
      <p:ext uri="{BB962C8B-B14F-4D97-AF65-F5344CB8AC3E}">
        <p14:creationId xmlns:p14="http://schemas.microsoft.com/office/powerpoint/2010/main" val="30583722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Organizations often make mistakes during Copilot deployment. Common pitfalls include assuming all attendees need Copilot licenses, misunderstanding 'Only During Meeting' implications, overlooking meeting chat integration, and forgetting organizer ownership changes. These issues can lead to ineffective implementations and user confusion. Awareness and training are key to avoiding these problems and maximizing Copilot's value.</a:t>
            </a:r>
          </a:p>
        </p:txBody>
      </p:sp>
      <p:sp>
        <p:nvSpPr>
          <p:cNvPr id="4" name="Slide Number Placeholder 3"/>
          <p:cNvSpPr>
            <a:spLocks noGrp="1"/>
          </p:cNvSpPr>
          <p:nvPr>
            <p:ph type="sldNum" sz="quarter" idx="5"/>
          </p:nvPr>
        </p:nvSpPr>
        <p:spPr/>
        <p:txBody>
          <a:bodyPr/>
          <a:lstStyle/>
          <a:p>
            <a:fld id="{E9120A06-D5A0-4DA8-A012-E02E07ACA68D}" type="slidenum">
              <a:t>26</a:t>
            </a:fld>
            <a:endParaRPr lang="en-US"/>
          </a:p>
        </p:txBody>
      </p:sp>
    </p:spTree>
    <p:extLst>
      <p:ext uri="{BB962C8B-B14F-4D97-AF65-F5344CB8AC3E}">
        <p14:creationId xmlns:p14="http://schemas.microsoft.com/office/powerpoint/2010/main" val="1591809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Choosing the right Copilot deployment strategy involves evaluating data sensitivity, license budget, compliance requirements, user experience, and change management needs. Common approaches include licensing executive organizers, piloting with specific departments, and adopting privacy-first configurations. Each organization must tailor its strategy to its unique context, balancing functionality with governance and cost considerations.</a:t>
            </a:r>
          </a:p>
        </p:txBody>
      </p:sp>
      <p:sp>
        <p:nvSpPr>
          <p:cNvPr id="4" name="Slide Number Placeholder 3"/>
          <p:cNvSpPr>
            <a:spLocks noGrp="1"/>
          </p:cNvSpPr>
          <p:nvPr>
            <p:ph type="sldNum" sz="quarter" idx="5"/>
          </p:nvPr>
        </p:nvSpPr>
        <p:spPr/>
        <p:txBody>
          <a:bodyPr/>
          <a:lstStyle/>
          <a:p>
            <a:fld id="{E9120A06-D5A0-4DA8-A012-E02E07ACA68D}" type="slidenum">
              <a:t>27</a:t>
            </a:fld>
            <a:endParaRPr lang="en-US"/>
          </a:p>
        </p:txBody>
      </p:sp>
    </p:spTree>
    <p:extLst>
      <p:ext uri="{BB962C8B-B14F-4D97-AF65-F5344CB8AC3E}">
        <p14:creationId xmlns:p14="http://schemas.microsoft.com/office/powerpoint/2010/main" val="597881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Key Takeaways, Q&amp;A Discussion</a:t>
            </a:r>
          </a:p>
        </p:txBody>
      </p:sp>
      <p:sp>
        <p:nvSpPr>
          <p:cNvPr id="4" name="Slide Number Placeholder 3"/>
          <p:cNvSpPr>
            <a:spLocks noGrp="1"/>
          </p:cNvSpPr>
          <p:nvPr>
            <p:ph type="sldNum" sz="quarter" idx="5"/>
          </p:nvPr>
        </p:nvSpPr>
        <p:spPr/>
        <p:txBody>
          <a:bodyPr/>
          <a:lstStyle/>
          <a:p>
            <a:fld id="{E9120A06-D5A0-4DA8-A012-E02E07ACA68D}" type="slidenum">
              <a:t>28</a:t>
            </a:fld>
            <a:endParaRPr lang="en-US"/>
          </a:p>
        </p:txBody>
      </p:sp>
    </p:spTree>
    <p:extLst>
      <p:ext uri="{BB962C8B-B14F-4D97-AF65-F5344CB8AC3E}">
        <p14:creationId xmlns:p14="http://schemas.microsoft.com/office/powerpoint/2010/main" val="31243711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Key takeaways include understanding that the organizer's license and settings control much of the meeting experience. Non-licensed attendees can participate but lack AI enhancements. Facilitator provides public responses, while Copilot offers private assistance. 'Only During' mode avoids data retention, whereas 'During &amp; After' enables full capabilities. Recent changes such as default transcription and organizer ownership enhance Copilot's utility. Effective change management and user education are essential for successful deployment.</a:t>
            </a:r>
          </a:p>
        </p:txBody>
      </p:sp>
      <p:sp>
        <p:nvSpPr>
          <p:cNvPr id="4" name="Slide Number Placeholder 3"/>
          <p:cNvSpPr>
            <a:spLocks noGrp="1"/>
          </p:cNvSpPr>
          <p:nvPr>
            <p:ph type="sldNum" sz="quarter" idx="5"/>
          </p:nvPr>
        </p:nvSpPr>
        <p:spPr/>
        <p:txBody>
          <a:bodyPr/>
          <a:lstStyle/>
          <a:p>
            <a:fld id="{E9120A06-D5A0-4DA8-A012-E02E07ACA68D}" type="slidenum">
              <a:t>29</a:t>
            </a:fld>
            <a:endParaRPr lang="en-US"/>
          </a:p>
        </p:txBody>
      </p:sp>
    </p:spTree>
    <p:extLst>
      <p:ext uri="{BB962C8B-B14F-4D97-AF65-F5344CB8AC3E}">
        <p14:creationId xmlns:p14="http://schemas.microsoft.com/office/powerpoint/2010/main" val="560214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Q&amp;A session addresses common concerns such as handling guest and external users, resolving conflicting admin policies, piloting with organizer-only licenses, comparing costs between Teams Premium and Copilot, and understanding the roadmap for additional AI agents. Attendees are encouraged to ask questions and refer to provided contact information, internal channels, and follow-up documentation for further support.</a:t>
            </a:r>
          </a:p>
        </p:txBody>
      </p:sp>
      <p:sp>
        <p:nvSpPr>
          <p:cNvPr id="4" name="Slide Number Placeholder 3"/>
          <p:cNvSpPr>
            <a:spLocks noGrp="1"/>
          </p:cNvSpPr>
          <p:nvPr>
            <p:ph type="sldNum" sz="quarter" idx="5"/>
          </p:nvPr>
        </p:nvSpPr>
        <p:spPr/>
        <p:txBody>
          <a:bodyPr/>
          <a:lstStyle/>
          <a:p>
            <a:fld id="{E9120A06-D5A0-4DA8-A012-E02E07ACA68D}" type="slidenum">
              <a:t>30</a:t>
            </a:fld>
            <a:endParaRPr lang="en-US"/>
          </a:p>
        </p:txBody>
      </p:sp>
    </p:spTree>
    <p:extLst>
      <p:ext uri="{BB962C8B-B14F-4D97-AF65-F5344CB8AC3E}">
        <p14:creationId xmlns:p14="http://schemas.microsoft.com/office/powerpoint/2010/main" val="5715360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10/20/25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10/20/25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10/20/25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DA0EA-5DF3-0395-9479-AB65B7735E94}"/>
              </a:ext>
            </a:extLst>
          </p:cNvPr>
          <p:cNvSpPr>
            <a:spLocks noGrp="1"/>
          </p:cNvSpPr>
          <p:nvPr>
            <p:ph type="ctrTitle"/>
          </p:nvPr>
        </p:nvSpPr>
        <p:spPr>
          <a:xfrm>
            <a:off x="56642" y="97104"/>
            <a:ext cx="4210558" cy="3331896"/>
          </a:xfrm>
        </p:spPr>
        <p:txBody>
          <a:bodyPr anchor="t">
            <a:normAutofit/>
          </a:bodyPr>
          <a:lstStyle/>
          <a:p>
            <a:r>
              <a:rPr lang="en-US" sz="3700" dirty="0">
                <a:latin typeface="Menlo" panose="020B0609030804020204" pitchFamily="49" charset="0"/>
                <a:ea typeface="Menlo" panose="020B0609030804020204" pitchFamily="49" charset="0"/>
                <a:cs typeface="Menlo" panose="020B0609030804020204" pitchFamily="49" charset="0"/>
              </a:rPr>
              <a:t>Microsoft 365 Copilot in Teams: Deep Dive</a:t>
            </a:r>
          </a:p>
        </p:txBody>
      </p:sp>
      <p:sp>
        <p:nvSpPr>
          <p:cNvPr id="3" name="Subtitle 2">
            <a:extLst>
              <a:ext uri="{FF2B5EF4-FFF2-40B4-BE49-F238E27FC236}">
                <a16:creationId xmlns:a16="http://schemas.microsoft.com/office/drawing/2014/main" id="{E3F5BA65-5736-DA0A-7226-ADBF310B4D0C}"/>
              </a:ext>
            </a:extLst>
          </p:cNvPr>
          <p:cNvSpPr>
            <a:spLocks noGrp="1"/>
          </p:cNvSpPr>
          <p:nvPr>
            <p:ph type="subTitle" idx="1"/>
          </p:nvPr>
        </p:nvSpPr>
        <p:spPr>
          <a:xfrm>
            <a:off x="612648" y="4492488"/>
            <a:ext cx="3349751" cy="1411356"/>
          </a:xfrm>
        </p:spPr>
        <p:txBody>
          <a:bodyPr anchor="b">
            <a:normAutofit/>
          </a:bodyPr>
          <a:lstStyle/>
          <a:p>
            <a:r>
              <a:rPr lang="en-US" dirty="0"/>
              <a:t>Understanding access and powerful collaboration tools</a:t>
            </a:r>
          </a:p>
        </p:txBody>
      </p:sp>
      <p:pic>
        <p:nvPicPr>
          <p:cNvPr id="5" name="Picture 4">
            <a:extLst>
              <a:ext uri="{FF2B5EF4-FFF2-40B4-BE49-F238E27FC236}">
                <a16:creationId xmlns:a16="http://schemas.microsoft.com/office/drawing/2014/main" id="{3ECDF11A-940F-3DDC-B1FF-53FBC21CC9B7}"/>
              </a:ext>
            </a:extLst>
          </p:cNvPr>
          <p:cNvPicPr>
            <a:picLocks noChangeAspect="1"/>
          </p:cNvPicPr>
          <p:nvPr/>
        </p:nvPicPr>
        <p:blipFill>
          <a:blip r:embed="rId3">
            <a:extLst>
              <a:ext uri="{28A0092B-C50C-407E-A947-70E740481C1C}">
                <a14:useLocalDpi xmlns:a14="http://schemas.microsoft.com/office/drawing/2010/main" val="0"/>
              </a:ext>
            </a:extLst>
          </a:blip>
          <a:srcRect l="11203" r="12701" b="-1"/>
          <a:stretch>
            <a:fillRect/>
          </a:stretch>
        </p:blipFill>
        <p:spPr>
          <a:xfrm>
            <a:off x="4373880" y="10"/>
            <a:ext cx="7818120" cy="6857990"/>
          </a:xfrm>
          <a:prstGeom prst="rect">
            <a:avLst/>
          </a:prstGeom>
          <a:noFill/>
        </p:spPr>
      </p:pic>
    </p:spTree>
    <p:extLst>
      <p:ext uri="{BB962C8B-B14F-4D97-AF65-F5344CB8AC3E}">
        <p14:creationId xmlns:p14="http://schemas.microsoft.com/office/powerpoint/2010/main" val="316936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AC62-A82F-46CC-08F7-69B9119C7F8D}"/>
              </a:ext>
            </a:extLst>
          </p:cNvPr>
          <p:cNvSpPr>
            <a:spLocks noGrp="1"/>
          </p:cNvSpPr>
          <p:nvPr>
            <p:ph type="title"/>
          </p:nvPr>
        </p:nvSpPr>
        <p:spPr>
          <a:xfrm>
            <a:off x="111758" y="1869103"/>
            <a:ext cx="9337042" cy="4906929"/>
          </a:xfrm>
        </p:spPr>
        <p:txBody>
          <a:bodyPr anchor="b">
            <a:normAutofit/>
          </a:bodyPr>
          <a:lstStyle/>
          <a:p>
            <a:r>
              <a:rPr lang="en-US"/>
              <a:t>Introduction and Agenda</a:t>
            </a:r>
          </a:p>
        </p:txBody>
      </p:sp>
    </p:spTree>
    <p:extLst>
      <p:ext uri="{BB962C8B-B14F-4D97-AF65-F5344CB8AC3E}">
        <p14:creationId xmlns:p14="http://schemas.microsoft.com/office/powerpoint/2010/main" val="713684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491F7-4BB6-351E-02C9-4D11885AA578}"/>
              </a:ext>
            </a:extLst>
          </p:cNvPr>
          <p:cNvSpPr>
            <a:spLocks noGrp="1"/>
          </p:cNvSpPr>
          <p:nvPr>
            <p:ph type="title"/>
          </p:nvPr>
        </p:nvSpPr>
        <p:spPr>
          <a:xfrm>
            <a:off x="612647" y="475488"/>
            <a:ext cx="6858000" cy="932688"/>
          </a:xfrm>
        </p:spPr>
        <p:txBody>
          <a:bodyPr anchor="b">
            <a:normAutofit/>
          </a:bodyPr>
          <a:lstStyle/>
          <a:p>
            <a:r>
              <a:rPr lang="en-US" dirty="0"/>
              <a:t>Title Slide</a:t>
            </a:r>
          </a:p>
        </p:txBody>
      </p:sp>
      <p:sp>
        <p:nvSpPr>
          <p:cNvPr id="3" name="Content Placeholder 2">
            <a:extLst>
              <a:ext uri="{FF2B5EF4-FFF2-40B4-BE49-F238E27FC236}">
                <a16:creationId xmlns:a16="http://schemas.microsoft.com/office/drawing/2014/main" id="{C5866B02-4637-E408-3190-15605FAE53B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dirty="0"/>
              <a:t>Why is you here? </a:t>
            </a:r>
          </a:p>
          <a:p>
            <a:pPr marL="0" lvl="1" indent="0">
              <a:buNone/>
            </a:pPr>
            <a:r>
              <a:rPr lang="en-US" dirty="0"/>
              <a:t>Today we're focusing on practical scenarios rather than general compliance </a:t>
            </a:r>
          </a:p>
          <a:p>
            <a:pPr marL="0" lvl="1" indent="0">
              <a:buNone/>
            </a:pPr>
            <a:endParaRPr lang="en-US" b="1" dirty="0"/>
          </a:p>
          <a:p>
            <a:pPr marL="0" lvl="1" indent="0">
              <a:buNone/>
            </a:pPr>
            <a:r>
              <a:rPr lang="en-US" b="1" dirty="0"/>
              <a:t>Crazy License Stuff</a:t>
            </a:r>
          </a:p>
          <a:p>
            <a:pPr marL="0" lvl="1" indent="0">
              <a:buNone/>
            </a:pPr>
            <a:r>
              <a:rPr lang="en-US" dirty="0"/>
              <a:t>We'll cover the "crazy license stuff" - mixed license environments and what actually happens </a:t>
            </a:r>
          </a:p>
          <a:p>
            <a:pPr marL="0" lvl="1" indent="0">
              <a:buNone/>
            </a:pPr>
            <a:endParaRPr lang="en-US" b="1" dirty="0"/>
          </a:p>
          <a:p>
            <a:pPr marL="0" lvl="1" indent="0">
              <a:buNone/>
            </a:pPr>
            <a:r>
              <a:rPr lang="en-US" b="1" dirty="0"/>
              <a:t>Practical Implementation</a:t>
            </a:r>
          </a:p>
          <a:p>
            <a:pPr marL="0" lvl="1" indent="0">
              <a:buFont typeface="Arial" panose="020B0604020202020204" pitchFamily="34" charset="0"/>
              <a:buNone/>
            </a:pPr>
            <a:r>
              <a:rPr dirty="0"/>
              <a:t>Emphasize practical uses of Copilot over theoretical compliance in real mixed license environments.</a:t>
            </a:r>
            <a:endParaRPr lang="en-US" dirty="0"/>
          </a:p>
          <a:p>
            <a:pPr marL="0" indent="0">
              <a:spcBef>
                <a:spcPts val="2500"/>
              </a:spcBef>
              <a:buFont typeface="Arial" panose="020B0604020202020204" pitchFamily="34" charset="0"/>
              <a:buNone/>
            </a:pPr>
            <a:r>
              <a:rPr lang="en-US" b="1" dirty="0"/>
              <a:t>Real-World Insights</a:t>
            </a:r>
          </a:p>
          <a:p>
            <a:pPr marL="0" lvl="1" indent="0">
              <a:buNone/>
            </a:pPr>
            <a:r>
              <a:rPr lang="en-US" dirty="0"/>
              <a:t>This is about real-world implementations, not marketing materials</a:t>
            </a:r>
          </a:p>
        </p:txBody>
      </p:sp>
      <p:pic>
        <p:nvPicPr>
          <p:cNvPr id="6" name="Picture Placeholder 5" descr="A close-up of a rotary phone&#10;&#10;AI-generated content may be incorrect.">
            <a:extLst>
              <a:ext uri="{FF2B5EF4-FFF2-40B4-BE49-F238E27FC236}">
                <a16:creationId xmlns:a16="http://schemas.microsoft.com/office/drawing/2014/main" id="{41808625-FF42-8AA3-2C10-1FDB895D3BDB}"/>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0000" t="-606" r="33334" b="606"/>
          <a:stretch>
            <a:fillRect/>
          </a:stretch>
        </p:blipFill>
        <p:spPr>
          <a:xfrm>
            <a:off x="7391400" y="0"/>
            <a:ext cx="4800600" cy="6858000"/>
          </a:xfrm>
        </p:spPr>
      </p:pic>
      <p:sp>
        <p:nvSpPr>
          <p:cNvPr id="4" name="TextBox 3">
            <a:extLst>
              <a:ext uri="{FF2B5EF4-FFF2-40B4-BE49-F238E27FC236}">
                <a16:creationId xmlns:a16="http://schemas.microsoft.com/office/drawing/2014/main" id="{8DCED607-30AB-C366-9D2B-19E8BF75C70A}"/>
              </a:ext>
            </a:extLst>
          </p:cNvPr>
          <p:cNvSpPr txBox="1"/>
          <p:nvPr/>
        </p:nvSpPr>
        <p:spPr>
          <a:xfrm>
            <a:off x="0" y="6474023"/>
            <a:ext cx="7923388" cy="307777"/>
          </a:xfrm>
          <a:prstGeom prst="rect">
            <a:avLst/>
          </a:prstGeom>
          <a:noFill/>
        </p:spPr>
        <p:txBody>
          <a:bodyPr wrap="none" rtlCol="0">
            <a:spAutoFit/>
          </a:bodyPr>
          <a:lstStyle/>
          <a:p>
            <a:r>
              <a:rPr lang="en-US" sz="1400" dirty="0"/>
              <a:t>* Yes I left it called Title slide on purpose, its homage to deadmau5 “for lack of a better name”</a:t>
            </a:r>
          </a:p>
        </p:txBody>
      </p:sp>
    </p:spTree>
    <p:extLst>
      <p:ext uri="{BB962C8B-B14F-4D97-AF65-F5344CB8AC3E}">
        <p14:creationId xmlns:p14="http://schemas.microsoft.com/office/powerpoint/2010/main" val="1895155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8651B-C3F1-E545-866A-CE49E9C9A967}"/>
              </a:ext>
            </a:extLst>
          </p:cNvPr>
          <p:cNvSpPr>
            <a:spLocks noGrp="1"/>
          </p:cNvSpPr>
          <p:nvPr>
            <p:ph type="title"/>
          </p:nvPr>
        </p:nvSpPr>
        <p:spPr>
          <a:xfrm>
            <a:off x="612647" y="709098"/>
            <a:ext cx="3696859" cy="1316347"/>
          </a:xfrm>
        </p:spPr>
        <p:txBody>
          <a:bodyPr anchor="t">
            <a:normAutofit/>
          </a:bodyPr>
          <a:lstStyle/>
          <a:p>
            <a:r>
              <a:rPr lang="en-US"/>
              <a:t>Agenda Overview</a:t>
            </a:r>
          </a:p>
        </p:txBody>
      </p:sp>
      <p:sp>
        <p:nvSpPr>
          <p:cNvPr id="8" name="Picture Placeholder 2">
            <a:extLst>
              <a:ext uri="{FF2B5EF4-FFF2-40B4-BE49-F238E27FC236}">
                <a16:creationId xmlns:a16="http://schemas.microsoft.com/office/drawing/2014/main" id="{177DD2D4-E972-0C8C-B81F-71EC742C71F4}"/>
              </a:ext>
            </a:extLst>
          </p:cNvPr>
          <p:cNvSpPr>
            <a:spLocks noGrp="1"/>
          </p:cNvSpPr>
          <p:nvPr>
            <p:ph type="pic" sz="quarter" idx="13"/>
          </p:nvPr>
        </p:nvSpPr>
        <p:spPr>
          <a:xfrm>
            <a:off x="731521" y="2295145"/>
            <a:ext cx="3540760" cy="3853758"/>
          </a:xfrm>
        </p:spPr>
        <p:txBody>
          <a:bodyPr/>
          <a:lstStyle/>
          <a:p>
            <a:endParaRPr lang="en-US"/>
          </a:p>
        </p:txBody>
      </p:sp>
      <p:sp>
        <p:nvSpPr>
          <p:cNvPr id="3" name="Content Placeholder 2">
            <a:extLst>
              <a:ext uri="{FF2B5EF4-FFF2-40B4-BE49-F238E27FC236}">
                <a16:creationId xmlns:a16="http://schemas.microsoft.com/office/drawing/2014/main" id="{5A58A72F-731B-D04B-463A-90EE641DD5F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3150" y="709098"/>
            <a:ext cx="6644488" cy="5439806"/>
          </a:xfrm>
        </p:spPr>
        <p:txBody>
          <a:bodyPr>
            <a:normAutofit/>
          </a:bodyPr>
          <a:lstStyle/>
          <a:p>
            <a:pPr marL="0" indent="0">
              <a:lnSpc>
                <a:spcPct val="110000"/>
              </a:lnSpc>
              <a:spcBef>
                <a:spcPts val="2500"/>
              </a:spcBef>
              <a:buFont typeface="Arial" panose="020B0604020202020204" pitchFamily="34" charset="0"/>
              <a:buNone/>
            </a:pPr>
            <a:r>
              <a:rPr lang="en-US" sz="1300" b="1"/>
              <a:t>Licensing Differences</a:t>
            </a:r>
          </a:p>
          <a:p>
            <a:pPr marL="0" lvl="1" indent="0">
              <a:lnSpc>
                <a:spcPct val="110000"/>
              </a:lnSpc>
              <a:buFont typeface="Arial" panose="020B0604020202020204" pitchFamily="34" charset="0"/>
              <a:buNone/>
            </a:pPr>
            <a:r>
              <a:rPr lang="en-US" sz="1300"/>
              <a:t>Overview of the distinctions between Copilot and Teams Premium licensing models.</a:t>
            </a:r>
          </a:p>
          <a:p>
            <a:pPr marL="0" indent="0">
              <a:lnSpc>
                <a:spcPct val="110000"/>
              </a:lnSpc>
              <a:spcBef>
                <a:spcPts val="2500"/>
              </a:spcBef>
              <a:buFont typeface="Arial" panose="020B0604020202020204" pitchFamily="34" charset="0"/>
              <a:buNone/>
            </a:pPr>
            <a:r>
              <a:rPr lang="en-US" sz="1300" b="1"/>
              <a:t>Copilot Agents Deep Dive</a:t>
            </a:r>
          </a:p>
          <a:p>
            <a:pPr marL="0" lvl="1" indent="0">
              <a:lnSpc>
                <a:spcPct val="110000"/>
              </a:lnSpc>
              <a:buFont typeface="Arial" panose="020B0604020202020204" pitchFamily="34" charset="0"/>
              <a:buNone/>
            </a:pPr>
            <a:r>
              <a:rPr lang="en-US" sz="1300"/>
              <a:t>Detailed exploration of Copilot agents like Facilitator, Interpreter, and Intelligence Recap roles.</a:t>
            </a:r>
          </a:p>
          <a:p>
            <a:pPr marL="0" indent="0">
              <a:lnSpc>
                <a:spcPct val="110000"/>
              </a:lnSpc>
              <a:spcBef>
                <a:spcPts val="2500"/>
              </a:spcBef>
              <a:buFont typeface="Arial" panose="020B0604020202020204" pitchFamily="34" charset="0"/>
              <a:buNone/>
            </a:pPr>
            <a:r>
              <a:rPr lang="en-US" sz="1300" b="1"/>
              <a:t>Mixed License Scenarios</a:t>
            </a:r>
          </a:p>
          <a:p>
            <a:pPr marL="0" lvl="1" indent="0">
              <a:lnSpc>
                <a:spcPct val="110000"/>
              </a:lnSpc>
              <a:buFont typeface="Arial" panose="020B0604020202020204" pitchFamily="34" charset="0"/>
              <a:buNone/>
            </a:pPr>
            <a:r>
              <a:rPr lang="en-US" sz="1300"/>
              <a:t>Discussion on scenarios where meeting organizers and attendees have different licenses.</a:t>
            </a:r>
          </a:p>
          <a:p>
            <a:pPr marL="0" indent="0">
              <a:lnSpc>
                <a:spcPct val="110000"/>
              </a:lnSpc>
              <a:spcBef>
                <a:spcPts val="2500"/>
              </a:spcBef>
              <a:buFont typeface="Arial" panose="020B0604020202020204" pitchFamily="34" charset="0"/>
              <a:buNone/>
            </a:pPr>
            <a:r>
              <a:rPr lang="en-US" sz="1300" b="1"/>
              <a:t>Voice and Calling Features</a:t>
            </a:r>
          </a:p>
          <a:p>
            <a:pPr marL="0" lvl="1" indent="0">
              <a:lnSpc>
                <a:spcPct val="110000"/>
              </a:lnSpc>
              <a:buFont typeface="Arial" panose="020B0604020202020204" pitchFamily="34" charset="0"/>
              <a:buNone/>
            </a:pPr>
            <a:r>
              <a:rPr lang="en-US" sz="1300"/>
              <a:t>Explaining voice capabilities and PSTN requirements for seamless calling functionality.</a:t>
            </a:r>
          </a:p>
          <a:p>
            <a:pPr marL="0" indent="0">
              <a:lnSpc>
                <a:spcPct val="110000"/>
              </a:lnSpc>
              <a:spcBef>
                <a:spcPts val="2500"/>
              </a:spcBef>
              <a:buFont typeface="Arial" panose="020B0604020202020204" pitchFamily="34" charset="0"/>
              <a:buNone/>
            </a:pPr>
            <a:r>
              <a:rPr lang="en-US" sz="1300" b="1"/>
              <a:t>Data Retention Modes</a:t>
            </a:r>
          </a:p>
          <a:p>
            <a:pPr marL="0" lvl="1" indent="0">
              <a:lnSpc>
                <a:spcPct val="110000"/>
              </a:lnSpc>
              <a:buFont typeface="Arial" panose="020B0604020202020204" pitchFamily="34" charset="0"/>
              <a:buNone/>
            </a:pPr>
            <a:r>
              <a:rPr lang="en-US" sz="1300"/>
              <a:t>Comparing 'Only During' and 'During &amp; After' meeting data retention practices.</a:t>
            </a:r>
          </a:p>
          <a:p>
            <a:pPr marL="0" indent="0">
              <a:lnSpc>
                <a:spcPct val="110000"/>
              </a:lnSpc>
              <a:spcBef>
                <a:spcPts val="2500"/>
              </a:spcBef>
              <a:buFont typeface="Arial" panose="020B0604020202020204" pitchFamily="34" charset="0"/>
              <a:buNone/>
            </a:pPr>
            <a:r>
              <a:rPr lang="en-US" sz="1300" b="1"/>
              <a:t>Q&amp;A Session</a:t>
            </a:r>
          </a:p>
          <a:p>
            <a:pPr marL="0" lvl="1" indent="0">
              <a:lnSpc>
                <a:spcPct val="110000"/>
              </a:lnSpc>
              <a:buFont typeface="Arial" panose="020B0604020202020204" pitchFamily="34" charset="0"/>
              <a:buNone/>
            </a:pPr>
            <a:r>
              <a:rPr lang="en-US" sz="1300"/>
              <a:t>Interactive session to address participant questions and provide clarifications.</a:t>
            </a:r>
          </a:p>
        </p:txBody>
      </p:sp>
    </p:spTree>
    <p:extLst>
      <p:ext uri="{BB962C8B-B14F-4D97-AF65-F5344CB8AC3E}">
        <p14:creationId xmlns:p14="http://schemas.microsoft.com/office/powerpoint/2010/main" val="34623245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52FE4-36C1-EEEF-42F5-AAF61D7283FA}"/>
              </a:ext>
            </a:extLst>
          </p:cNvPr>
          <p:cNvSpPr>
            <a:spLocks noGrp="1"/>
          </p:cNvSpPr>
          <p:nvPr>
            <p:ph type="title"/>
          </p:nvPr>
        </p:nvSpPr>
        <p:spPr>
          <a:xfrm>
            <a:off x="612646" y="4162318"/>
            <a:ext cx="3044954" cy="1892808"/>
          </a:xfrm>
        </p:spPr>
        <p:txBody>
          <a:bodyPr anchor="t">
            <a:normAutofit/>
          </a:bodyPr>
          <a:lstStyle/>
          <a:p>
            <a:r>
              <a:rPr lang="en-US"/>
              <a:t>Feature and Policy Deep Dive</a:t>
            </a:r>
          </a:p>
        </p:txBody>
      </p:sp>
      <p:pic>
        <p:nvPicPr>
          <p:cNvPr id="4" name="Video 3" descr="Turning A Winch">
            <a:extLst>
              <a:ext uri="{FF2B5EF4-FFF2-40B4-BE49-F238E27FC236}">
                <a16:creationId xmlns:a16="http://schemas.microsoft.com/office/drawing/2014/main" id="{1035A24F-388F-5FDE-569E-36D679F593CF}"/>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32364" r="1" b="12700"/>
          <a:stretch>
            <a:fillRect/>
          </a:stretch>
        </p:blipFill>
        <p:spPr>
          <a:xfrm>
            <a:off x="-1" y="10"/>
            <a:ext cx="12192000" cy="3778260"/>
          </a:xfrm>
          <a:prstGeom prst="rect">
            <a:avLst/>
          </a:prstGeom>
          <a:noFill/>
        </p:spPr>
      </p:pic>
      <p:sp>
        <p:nvSpPr>
          <p:cNvPr id="8" name="Content Placeholder 3">
            <a:extLst>
              <a:ext uri="{FF2B5EF4-FFF2-40B4-BE49-F238E27FC236}">
                <a16:creationId xmlns:a16="http://schemas.microsoft.com/office/drawing/2014/main" id="{8BC91723-27E3-67EF-9280-2A2669567418}"/>
              </a:ext>
            </a:extLst>
          </p:cNvPr>
          <p:cNvSpPr>
            <a:spLocks noGrp="1"/>
          </p:cNvSpPr>
          <p:nvPr>
            <p:ph sz="quarter" idx="14"/>
          </p:nvPr>
        </p:nvSpPr>
        <p:spPr>
          <a:xfrm>
            <a:off x="4122370" y="4162318"/>
            <a:ext cx="7460029" cy="2091525"/>
          </a:xfrm>
        </p:spPr>
        <p:txBody>
          <a:bodyPr/>
          <a:lstStyle/>
          <a:p>
            <a:endParaRPr lang="en-US"/>
          </a:p>
        </p:txBody>
      </p:sp>
    </p:spTree>
    <p:extLst>
      <p:ext uri="{BB962C8B-B14F-4D97-AF65-F5344CB8AC3E}">
        <p14:creationId xmlns:p14="http://schemas.microsoft.com/office/powerpoint/2010/main" val="2142382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84" fill="hold"/>
                                        <p:tgtEl>
                                          <p:spTgt spid="4"/>
                                        </p:tgtEl>
                                      </p:cBhvr>
                                    </p:cmd>
                                  </p:childTnLst>
                                </p:cTn>
                              </p:par>
                              <p:par>
                                <p:cTn id="7" presetID="10" presetClass="entr" presetSubtype="0" fill="hold" grpId="0" nodeType="withEffect">
                                  <p:stCondLst>
                                    <p:cond delay="5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4"/>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4"/>
                                        </p:tgtEl>
                                      </p:cBhvr>
                                    </p:cmd>
                                  </p:childTnLst>
                                </p:cTn>
                              </p:par>
                            </p:childTnLst>
                          </p:cTn>
                        </p:par>
                      </p:childTnLst>
                    </p:cTn>
                  </p:par>
                </p:childTnLst>
              </p:cTn>
              <p:nextCondLst>
                <p:cond evt="onClick" delay="0">
                  <p:tgtEl>
                    <p:spTgt spid="4"/>
                  </p:tgtEl>
                </p:cond>
              </p:nextCondLst>
            </p:seq>
            <p:video>
              <p:cMediaNode mute="1">
                <p:cTn id="15" repeatCount="indefinite" fill="hold" display="0">
                  <p:stCondLst>
                    <p:cond delay="indefinite"/>
                  </p:stCondLst>
                </p:cTn>
                <p:tgtEl>
                  <p:spTgt spid="4"/>
                </p:tgtEl>
              </p:cMediaNode>
            </p:video>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1FE18-CD32-25D8-3368-DD0B28F1294C}"/>
              </a:ext>
            </a:extLst>
          </p:cNvPr>
          <p:cNvSpPr>
            <a:spLocks noGrp="1"/>
          </p:cNvSpPr>
          <p:nvPr>
            <p:ph type="title"/>
          </p:nvPr>
        </p:nvSpPr>
        <p:spPr>
          <a:xfrm>
            <a:off x="614677" y="1050111"/>
            <a:ext cx="3496147" cy="4940661"/>
          </a:xfrm>
        </p:spPr>
        <p:txBody>
          <a:bodyPr anchor="t">
            <a:normAutofit/>
          </a:bodyPr>
          <a:lstStyle/>
          <a:p>
            <a:r>
              <a:rPr lang="en-US"/>
              <a:t>Recent Policy Changes</a:t>
            </a:r>
          </a:p>
        </p:txBody>
      </p:sp>
      <p:sp>
        <p:nvSpPr>
          <p:cNvPr id="3" name="Content Placeholder 2">
            <a:extLst>
              <a:ext uri="{FF2B5EF4-FFF2-40B4-BE49-F238E27FC236}">
                <a16:creationId xmlns:a16="http://schemas.microsoft.com/office/drawing/2014/main" id="{7481912A-610B-5D14-0786-95123BD9CD1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dirty="0"/>
              <a:t>Meeting and Event Policies</a:t>
            </a:r>
          </a:p>
          <a:p>
            <a:pPr marL="0" lvl="1" indent="0">
              <a:buFont typeface="Arial" panose="020B0604020202020204" pitchFamily="34" charset="0"/>
              <a:buNone/>
            </a:pPr>
            <a:r>
              <a:rPr dirty="0"/>
              <a:t>New separate policies for meetings and events impact Copilot’s functionality and user experience.</a:t>
            </a:r>
            <a:endParaRPr lang="en-US" dirty="0"/>
          </a:p>
          <a:p>
            <a:pPr marL="0" indent="0">
              <a:spcBef>
                <a:spcPts val="2500"/>
              </a:spcBef>
              <a:buFont typeface="Arial" panose="020B0604020202020204" pitchFamily="34" charset="0"/>
              <a:buNone/>
            </a:pPr>
            <a:r>
              <a:rPr lang="en-US" b="1" dirty="0"/>
              <a:t>Default Transcription Feature</a:t>
            </a:r>
          </a:p>
          <a:p>
            <a:pPr marL="0" lvl="1" indent="0">
              <a:buFont typeface="Arial" panose="020B0604020202020204" pitchFamily="34" charset="0"/>
              <a:buNone/>
            </a:pPr>
            <a:r>
              <a:rPr dirty="0"/>
              <a:t>Transcription is enabled by default for new tenants to enhance meeting documentation and accessibility.</a:t>
            </a:r>
            <a:endParaRPr lang="en-US" dirty="0"/>
          </a:p>
          <a:p>
            <a:pPr marL="0" indent="0">
              <a:spcBef>
                <a:spcPts val="2500"/>
              </a:spcBef>
              <a:buFont typeface="Arial" panose="020B0604020202020204" pitchFamily="34" charset="0"/>
              <a:buNone/>
            </a:pPr>
            <a:r>
              <a:rPr lang="en-US" b="1" dirty="0"/>
              <a:t>Voice and Face Profile Enrollment</a:t>
            </a:r>
          </a:p>
          <a:p>
            <a:pPr marL="0" lvl="1" indent="0">
              <a:buFont typeface="Arial" panose="020B0604020202020204" pitchFamily="34" charset="0"/>
              <a:buNone/>
            </a:pPr>
            <a:r>
              <a:rPr dirty="0"/>
              <a:t>Voice and face profile enrollment is introduced for Teams Rooms to improve authentication and personalization.</a:t>
            </a:r>
            <a:endParaRPr lang="en-US" dirty="0"/>
          </a:p>
          <a:p>
            <a:pPr marL="0" indent="0">
              <a:spcBef>
                <a:spcPts val="2500"/>
              </a:spcBef>
              <a:buFont typeface="Arial" panose="020B0604020202020204" pitchFamily="34" charset="0"/>
              <a:buNone/>
            </a:pPr>
            <a:r>
              <a:rPr lang="en-US" b="1" dirty="0"/>
              <a:t>Meeting Organizer Ownership Change</a:t>
            </a:r>
          </a:p>
          <a:p>
            <a:pPr marL="0" lvl="1" indent="0">
              <a:buFont typeface="Arial" panose="020B0604020202020204" pitchFamily="34" charset="0"/>
              <a:buNone/>
            </a:pPr>
            <a:r>
              <a:rPr dirty="0"/>
              <a:t>Ownership of meetings changes effective June 2024, influencing data retention and access to meeting artifacts.</a:t>
            </a:r>
            <a:endParaRPr lang="en-US" dirty="0"/>
          </a:p>
        </p:txBody>
      </p:sp>
    </p:spTree>
    <p:extLst>
      <p:ext uri="{BB962C8B-B14F-4D97-AF65-F5344CB8AC3E}">
        <p14:creationId xmlns:p14="http://schemas.microsoft.com/office/powerpoint/2010/main" val="12152406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E691-70B6-05C8-35AA-4942DECCB84C}"/>
              </a:ext>
            </a:extLst>
          </p:cNvPr>
          <p:cNvSpPr>
            <a:spLocks noGrp="1"/>
          </p:cNvSpPr>
          <p:nvPr>
            <p:ph type="title"/>
          </p:nvPr>
        </p:nvSpPr>
        <p:spPr>
          <a:xfrm>
            <a:off x="2790911" y="2133600"/>
            <a:ext cx="6623436" cy="1070776"/>
          </a:xfrm>
        </p:spPr>
        <p:txBody>
          <a:bodyPr anchor="b">
            <a:normAutofit/>
          </a:bodyPr>
          <a:lstStyle/>
          <a:p>
            <a:r>
              <a:rPr lang="en-US"/>
              <a:t>Copilot vs Teams Premium Features</a:t>
            </a:r>
          </a:p>
        </p:txBody>
      </p:sp>
      <p:graphicFrame>
        <p:nvGraphicFramePr>
          <p:cNvPr id="5" name="Content Placeholder 4">
            <a:extLst>
              <a:ext uri="{FF2B5EF4-FFF2-40B4-BE49-F238E27FC236}">
                <a16:creationId xmlns:a16="http://schemas.microsoft.com/office/drawing/2014/main" id="{CB06054A-755D-4067-8C34-DA2F2993A579}"/>
              </a:ext>
            </a:extLst>
          </p:cNvPr>
          <p:cNvGraphicFramePr>
            <a:graphicFrameLocks noGrp="1"/>
          </p:cNvGraphicFramePr>
          <p:nvPr>
            <p:ph sz="quarter" idx="13"/>
          </p:nvPr>
        </p:nvGraphicFramePr>
        <p:xfrm>
          <a:off x="3768725" y="3579991"/>
          <a:ext cx="4659315" cy="1661758"/>
        </p:xfrm>
        <a:graphic>
          <a:graphicData uri="http://schemas.openxmlformats.org/drawingml/2006/table">
            <a:tbl>
              <a:tblPr firstRow="1" bandRow="1">
                <a:noFill/>
                <a:tableStyleId>{5C22544A-7EE6-4342-B048-85BDC9FD1C3A}</a:tableStyleId>
              </a:tblPr>
              <a:tblGrid>
                <a:gridCol w="1156346">
                  <a:extLst>
                    <a:ext uri="{9D8B030D-6E8A-4147-A177-3AD203B41FA5}">
                      <a16:colId xmlns:a16="http://schemas.microsoft.com/office/drawing/2014/main" val="2314175392"/>
                    </a:ext>
                  </a:extLst>
                </a:gridCol>
                <a:gridCol w="969733">
                  <a:extLst>
                    <a:ext uri="{9D8B030D-6E8A-4147-A177-3AD203B41FA5}">
                      <a16:colId xmlns:a16="http://schemas.microsoft.com/office/drawing/2014/main" val="738594392"/>
                    </a:ext>
                  </a:extLst>
                </a:gridCol>
                <a:gridCol w="1160588">
                  <a:extLst>
                    <a:ext uri="{9D8B030D-6E8A-4147-A177-3AD203B41FA5}">
                      <a16:colId xmlns:a16="http://schemas.microsoft.com/office/drawing/2014/main" val="3364256845"/>
                    </a:ext>
                  </a:extLst>
                </a:gridCol>
                <a:gridCol w="1372648">
                  <a:extLst>
                    <a:ext uri="{9D8B030D-6E8A-4147-A177-3AD203B41FA5}">
                      <a16:colId xmlns:a16="http://schemas.microsoft.com/office/drawing/2014/main" val="4093042443"/>
                    </a:ext>
                  </a:extLst>
                </a:gridCol>
              </a:tblGrid>
              <a:tr h="396883">
                <a:tc>
                  <a:txBody>
                    <a:bodyPr/>
                    <a:lstStyle/>
                    <a:p>
                      <a:pPr>
                        <a:buNone/>
                      </a:pPr>
                      <a:r>
                        <a:rPr lang="en-US" sz="800" b="1" cap="all" spc="150" dirty="0">
                          <a:solidFill>
                            <a:schemeClr val="tx1"/>
                          </a:solidFill>
                        </a:rPr>
                        <a:t>Feature</a:t>
                      </a:r>
                    </a:p>
                  </a:txBody>
                  <a:tcPr marL="68167" marR="68167" marT="68167" marB="6816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800" b="1" cap="all" spc="150">
                          <a:solidFill>
                            <a:schemeClr val="tx1"/>
                          </a:solidFill>
                        </a:rPr>
                        <a:t>Teams Basic</a:t>
                      </a:r>
                    </a:p>
                  </a:txBody>
                  <a:tcPr marL="68167" marR="68167" marT="68167" marB="6816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800" b="1" cap="all" spc="150">
                          <a:solidFill>
                            <a:schemeClr val="tx1"/>
                          </a:solidFill>
                        </a:rPr>
                        <a:t>Teams Premium</a:t>
                      </a:r>
                    </a:p>
                  </a:txBody>
                  <a:tcPr marL="68167" marR="68167" marT="68167" marB="68167"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800" b="1" cap="all" spc="150">
                          <a:solidFill>
                            <a:schemeClr val="tx1"/>
                          </a:solidFill>
                        </a:rPr>
                        <a:t>Microsoft 365 Copilot</a:t>
                      </a:r>
                    </a:p>
                  </a:txBody>
                  <a:tcPr marL="68167" marR="68167" marT="68167" marB="6816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4109452010"/>
                  </a:ext>
                </a:extLst>
              </a:tr>
              <a:tr h="252975">
                <a:tc>
                  <a:txBody>
                    <a:bodyPr/>
                    <a:lstStyle/>
                    <a:p>
                      <a:pPr>
                        <a:buNone/>
                      </a:pPr>
                      <a:r>
                        <a:rPr lang="en-US" sz="600" b="1" cap="none" spc="0">
                          <a:solidFill>
                            <a:schemeClr val="tx1"/>
                          </a:solidFill>
                        </a:rPr>
                        <a:t>Intelligent Recap</a:t>
                      </a:r>
                    </a:p>
                  </a:txBody>
                  <a:tcPr marL="68167" marR="68167" marT="68167" marB="6816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Standardized notes</a:t>
                      </a:r>
                    </a:p>
                  </a:txBody>
                  <a:tcPr marL="68167" marR="68167" marT="68167" marB="6816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Custom questions</a:t>
                      </a:r>
                    </a:p>
                  </a:txBody>
                  <a:tcPr marL="68167" marR="68167" marT="68167" marB="6816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705060683"/>
                  </a:ext>
                </a:extLst>
              </a:tr>
              <a:tr h="252975">
                <a:tc>
                  <a:txBody>
                    <a:bodyPr/>
                    <a:lstStyle/>
                    <a:p>
                      <a:pPr>
                        <a:buNone/>
                      </a:pPr>
                      <a:r>
                        <a:rPr lang="en-US" sz="600" b="1" cap="none" spc="0">
                          <a:solidFill>
                            <a:schemeClr val="tx1"/>
                          </a:solidFill>
                        </a:rPr>
                        <a:t>Real-time Questions</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During meetings</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26686114"/>
                  </a:ext>
                </a:extLst>
              </a:tr>
              <a:tr h="252975">
                <a:tc>
                  <a:txBody>
                    <a:bodyPr/>
                    <a:lstStyle/>
                    <a:p>
                      <a:pPr>
                        <a:buNone/>
                      </a:pPr>
                      <a:r>
                        <a:rPr lang="en-US" sz="600" b="1" cap="none" spc="0">
                          <a:solidFill>
                            <a:schemeClr val="tx1"/>
                          </a:solidFill>
                        </a:rPr>
                        <a:t>Facilitator Agent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Public responses</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08562370"/>
                  </a:ext>
                </a:extLst>
              </a:tr>
              <a:tr h="252975">
                <a:tc>
                  <a:txBody>
                    <a:bodyPr/>
                    <a:lstStyle/>
                    <a:p>
                      <a:pPr>
                        <a:buNone/>
                      </a:pPr>
                      <a:r>
                        <a:rPr lang="en-US" sz="600" b="1" cap="none" spc="0">
                          <a:solidFill>
                            <a:schemeClr val="tx1"/>
                          </a:solidFill>
                        </a:rPr>
                        <a:t>Interpreter Agent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600" cap="none" spc="0">
                          <a:solidFill>
                            <a:schemeClr val="tx1"/>
                          </a:solidFill>
                        </a:rPr>
                        <a:t>✅ 9 languages</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283306601"/>
                  </a:ext>
                </a:extLst>
              </a:tr>
              <a:tr h="252975">
                <a:tc>
                  <a:txBody>
                    <a:bodyPr/>
                    <a:lstStyle/>
                    <a:p>
                      <a:pPr>
                        <a:buNone/>
                      </a:pPr>
                      <a:r>
                        <a:rPr lang="en-US" sz="600" b="1" cap="none" spc="0">
                          <a:solidFill>
                            <a:schemeClr val="tx1"/>
                          </a:solidFill>
                        </a:rPr>
                        <a:t>Private Copilot Chat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600" b="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600" b="0" cap="none" spc="0">
                          <a:solidFill>
                            <a:schemeClr val="tx1"/>
                          </a:solidFill>
                        </a:rPr>
                        <a:t>❌</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600" b="0" cap="none" spc="0" dirty="0">
                          <a:solidFill>
                            <a:schemeClr val="tx1"/>
                          </a:solidFill>
                        </a:rPr>
                        <a:t>✅ Individual prompts</a:t>
                      </a:r>
                    </a:p>
                  </a:txBody>
                  <a:tcPr marL="68167" marR="68167" marT="68167" marB="68167"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794324790"/>
                  </a:ext>
                </a:extLst>
              </a:tr>
            </a:tbl>
          </a:graphicData>
        </a:graphic>
      </p:graphicFrame>
    </p:spTree>
    <p:extLst>
      <p:ext uri="{BB962C8B-B14F-4D97-AF65-F5344CB8AC3E}">
        <p14:creationId xmlns:p14="http://schemas.microsoft.com/office/powerpoint/2010/main" val="7053179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EE1F4-FC9F-8E4F-CB28-3187DDED88F6}"/>
              </a:ext>
            </a:extLst>
          </p:cNvPr>
          <p:cNvSpPr>
            <a:spLocks noGrp="1"/>
          </p:cNvSpPr>
          <p:nvPr>
            <p:ph type="title"/>
          </p:nvPr>
        </p:nvSpPr>
        <p:spPr>
          <a:xfrm>
            <a:off x="7094553" y="423332"/>
            <a:ext cx="4477512" cy="1328932"/>
          </a:xfrm>
        </p:spPr>
        <p:txBody>
          <a:bodyPr anchor="b">
            <a:normAutofit/>
          </a:bodyPr>
          <a:lstStyle/>
          <a:p>
            <a:r>
              <a:rPr lang="en-US"/>
              <a:t>Copilot Operational Modes</a:t>
            </a:r>
          </a:p>
        </p:txBody>
      </p:sp>
      <p:sp>
        <p:nvSpPr>
          <p:cNvPr id="8" name="Picture Placeholder 2">
            <a:extLst>
              <a:ext uri="{FF2B5EF4-FFF2-40B4-BE49-F238E27FC236}">
                <a16:creationId xmlns:a16="http://schemas.microsoft.com/office/drawing/2014/main" id="{3DD918DC-8E84-7DD8-2EE8-04DE39AA58E3}"/>
              </a:ext>
            </a:extLst>
          </p:cNvPr>
          <p:cNvSpPr>
            <a:spLocks noGrp="1"/>
          </p:cNvSpPr>
          <p:nvPr>
            <p:ph type="pic" sz="quarter" idx="13"/>
          </p:nvPr>
        </p:nvSpPr>
        <p:spPr>
          <a:xfrm>
            <a:off x="1" y="0"/>
            <a:ext cx="6492240" cy="6858000"/>
          </a:xfrm>
        </p:spPr>
        <p:txBody>
          <a:bodyPr/>
          <a:lstStyle/>
          <a:p>
            <a:endParaRPr lang="en-US"/>
          </a:p>
        </p:txBody>
      </p:sp>
      <p:sp>
        <p:nvSpPr>
          <p:cNvPr id="3" name="Content Placeholder 2">
            <a:extLst>
              <a:ext uri="{FF2B5EF4-FFF2-40B4-BE49-F238E27FC236}">
                <a16:creationId xmlns:a16="http://schemas.microsoft.com/office/drawing/2014/main" id="{BA004E05-7C3D-F1DF-FE32-7C1350F1E26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4889" y="1975104"/>
            <a:ext cx="4477512" cy="4282573"/>
          </a:xfrm>
        </p:spPr>
        <p:txBody>
          <a:bodyPr>
            <a:normAutofit/>
          </a:bodyPr>
          <a:lstStyle/>
          <a:p>
            <a:pPr marL="0" indent="0">
              <a:lnSpc>
                <a:spcPct val="110000"/>
              </a:lnSpc>
              <a:spcBef>
                <a:spcPts val="2500"/>
              </a:spcBef>
              <a:buFont typeface="Arial" panose="020B0604020202020204" pitchFamily="34" charset="0"/>
              <a:buNone/>
            </a:pPr>
            <a:r>
              <a:rPr lang="en-US" sz="1200" b="1"/>
              <a:t>Record Mode Features</a:t>
            </a:r>
          </a:p>
          <a:p>
            <a:pPr marL="0" lvl="1" indent="0">
              <a:lnSpc>
                <a:spcPct val="110000"/>
              </a:lnSpc>
              <a:buFont typeface="Arial" panose="020B0604020202020204" pitchFamily="34" charset="0"/>
              <a:buNone/>
            </a:pPr>
            <a:r>
              <a:rPr lang="en-US" sz="1200"/>
              <a:t>Record Mode captures video, audio, and transcripts ensuring full compliance and comprehensive data capture.</a:t>
            </a:r>
          </a:p>
          <a:p>
            <a:pPr marL="0" indent="0">
              <a:lnSpc>
                <a:spcPct val="110000"/>
              </a:lnSpc>
              <a:spcBef>
                <a:spcPts val="2500"/>
              </a:spcBef>
              <a:buFont typeface="Arial" panose="020B0604020202020204" pitchFamily="34" charset="0"/>
              <a:buNone/>
            </a:pPr>
            <a:r>
              <a:rPr lang="en-US" sz="1200" b="1"/>
              <a:t>Transcribe Mode Overview</a:t>
            </a:r>
          </a:p>
          <a:p>
            <a:pPr marL="0" lvl="1" indent="0">
              <a:lnSpc>
                <a:spcPct val="110000"/>
              </a:lnSpc>
              <a:buFont typeface="Arial" panose="020B0604020202020204" pitchFamily="34" charset="0"/>
              <a:buNone/>
            </a:pPr>
            <a:r>
              <a:rPr lang="en-US" sz="1200"/>
              <a:t>Transcribe Mode converts speech to text without recording audio, supporting privacy and reducing data storage.</a:t>
            </a:r>
          </a:p>
          <a:p>
            <a:pPr marL="0" indent="0">
              <a:lnSpc>
                <a:spcPct val="110000"/>
              </a:lnSpc>
              <a:spcBef>
                <a:spcPts val="2500"/>
              </a:spcBef>
              <a:buFont typeface="Arial" panose="020B0604020202020204" pitchFamily="34" charset="0"/>
              <a:buNone/>
            </a:pPr>
            <a:r>
              <a:rPr lang="en-US" sz="1200" b="1"/>
              <a:t>'Allow Copilot' Mode</a:t>
            </a:r>
          </a:p>
          <a:p>
            <a:pPr marL="0" lvl="1" indent="0">
              <a:lnSpc>
                <a:spcPct val="110000"/>
              </a:lnSpc>
              <a:buFont typeface="Arial" panose="020B0604020202020204" pitchFamily="34" charset="0"/>
              <a:buNone/>
            </a:pPr>
            <a:r>
              <a:rPr lang="en-US" sz="1200"/>
              <a:t>'Allow Copilot' Mode enables automatic transcription with options for temporary or retained transcript storage.</a:t>
            </a:r>
          </a:p>
          <a:p>
            <a:pPr marL="0" indent="0">
              <a:lnSpc>
                <a:spcPct val="110000"/>
              </a:lnSpc>
              <a:spcBef>
                <a:spcPts val="2500"/>
              </a:spcBef>
              <a:buFont typeface="Arial" panose="020B0604020202020204" pitchFamily="34" charset="0"/>
              <a:buNone/>
            </a:pPr>
            <a:r>
              <a:rPr lang="en-US" sz="1200" b="1"/>
              <a:t>Compliance and Privacy Impact</a:t>
            </a:r>
          </a:p>
          <a:p>
            <a:pPr marL="0" lvl="1" indent="0">
              <a:lnSpc>
                <a:spcPct val="110000"/>
              </a:lnSpc>
              <a:buFont typeface="Arial" panose="020B0604020202020204" pitchFamily="34" charset="0"/>
              <a:buNone/>
            </a:pPr>
            <a:r>
              <a:rPr lang="en-US" sz="1200"/>
              <a:t>These modes influence data retention and eDiscovery, crucial for organizations focused on compliance and privacy.</a:t>
            </a:r>
          </a:p>
        </p:txBody>
      </p:sp>
    </p:spTree>
    <p:extLst>
      <p:ext uri="{BB962C8B-B14F-4D97-AF65-F5344CB8AC3E}">
        <p14:creationId xmlns:p14="http://schemas.microsoft.com/office/powerpoint/2010/main" val="17461212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F8AD-637C-B37D-CAEB-67C52B15BE12}"/>
              </a:ext>
            </a:extLst>
          </p:cNvPr>
          <p:cNvSpPr>
            <a:spLocks noGrp="1"/>
          </p:cNvSpPr>
          <p:nvPr>
            <p:ph type="title"/>
          </p:nvPr>
        </p:nvSpPr>
        <p:spPr>
          <a:xfrm>
            <a:off x="111758" y="1869103"/>
            <a:ext cx="9337042" cy="4906929"/>
          </a:xfrm>
        </p:spPr>
        <p:txBody>
          <a:bodyPr anchor="b">
            <a:normAutofit/>
          </a:bodyPr>
          <a:lstStyle/>
          <a:p>
            <a:r>
              <a:rPr lang="en-US"/>
              <a:t>Copilot Agents and Capabilities</a:t>
            </a:r>
          </a:p>
        </p:txBody>
      </p:sp>
    </p:spTree>
    <p:extLst>
      <p:ext uri="{BB962C8B-B14F-4D97-AF65-F5344CB8AC3E}">
        <p14:creationId xmlns:p14="http://schemas.microsoft.com/office/powerpoint/2010/main" val="637458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ADC90-471B-AE76-F4FD-6BB4696F8BBA}"/>
              </a:ext>
            </a:extLst>
          </p:cNvPr>
          <p:cNvSpPr>
            <a:spLocks noGrp="1"/>
          </p:cNvSpPr>
          <p:nvPr>
            <p:ph type="title"/>
          </p:nvPr>
        </p:nvSpPr>
        <p:spPr>
          <a:xfrm>
            <a:off x="614677" y="1050111"/>
            <a:ext cx="3496147" cy="4940661"/>
          </a:xfrm>
        </p:spPr>
        <p:txBody>
          <a:bodyPr anchor="t">
            <a:normAutofit/>
          </a:bodyPr>
          <a:lstStyle/>
          <a:p>
            <a:r>
              <a:rPr lang="en-US"/>
              <a:t>Facilitator Agent</a:t>
            </a:r>
          </a:p>
        </p:txBody>
      </p:sp>
      <p:sp>
        <p:nvSpPr>
          <p:cNvPr id="3" name="Content Placeholder 2">
            <a:extLst>
              <a:ext uri="{FF2B5EF4-FFF2-40B4-BE49-F238E27FC236}">
                <a16:creationId xmlns:a16="http://schemas.microsoft.com/office/drawing/2014/main" id="{8BDD98B1-98C3-E5D8-B56F-C262542DBEE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Public AI Participation</a:t>
            </a:r>
          </a:p>
          <a:p>
            <a:pPr marL="0" lvl="1" indent="0">
              <a:buFont typeface="Arial" panose="020B0604020202020204" pitchFamily="34" charset="0"/>
              <a:buNone/>
            </a:pPr>
            <a:r>
              <a:t>Facilitator Agent provides public responses visible to all meeting participants, enhancing transparency.</a:t>
            </a:r>
            <a:endParaRPr lang="en-US"/>
          </a:p>
          <a:p>
            <a:pPr marL="0" indent="0">
              <a:spcBef>
                <a:spcPts val="2500"/>
              </a:spcBef>
              <a:buFont typeface="Arial" panose="020B0604020202020204" pitchFamily="34" charset="0"/>
              <a:buNone/>
            </a:pPr>
            <a:r>
              <a:rPr lang="en-US" b="1"/>
              <a:t>Real-Time Note Taking</a:t>
            </a:r>
          </a:p>
          <a:p>
            <a:pPr marL="0" lvl="1" indent="0">
              <a:buFont typeface="Arial" panose="020B0604020202020204" pitchFamily="34" charset="0"/>
              <a:buNone/>
            </a:pPr>
            <a:r>
              <a:t>The agent continuously updates meeting notes and action items to keep everyone informed.</a:t>
            </a:r>
            <a:endParaRPr lang="en-US"/>
          </a:p>
          <a:p>
            <a:pPr marL="0" indent="0">
              <a:spcBef>
                <a:spcPts val="2500"/>
              </a:spcBef>
              <a:buFont typeface="Arial" panose="020B0604020202020204" pitchFamily="34" charset="0"/>
              <a:buNone/>
            </a:pPr>
            <a:r>
              <a:rPr lang="en-US" b="1"/>
              <a:t>Collaboration and Storage</a:t>
            </a:r>
          </a:p>
          <a:p>
            <a:pPr marL="0" lvl="1" indent="0">
              <a:buFont typeface="Arial" panose="020B0604020202020204" pitchFamily="34" charset="0"/>
              <a:buNone/>
            </a:pPr>
            <a:r>
              <a:t>Notes are saved in the user's OneDrive as .loop files, enabling easy access and collaboration.</a:t>
            </a:r>
            <a:endParaRPr lang="en-US"/>
          </a:p>
          <a:p>
            <a:pPr marL="0" indent="0">
              <a:spcBef>
                <a:spcPts val="2500"/>
              </a:spcBef>
              <a:buFont typeface="Arial" panose="020B0604020202020204" pitchFamily="34" charset="0"/>
              <a:buNone/>
            </a:pPr>
            <a:r>
              <a:rPr lang="en-US" b="1"/>
              <a:t>Enhanced Meeting Insights</a:t>
            </a:r>
          </a:p>
          <a:p>
            <a:pPr marL="0" lvl="1" indent="0">
              <a:buFont typeface="Arial" panose="020B0604020202020204" pitchFamily="34" charset="0"/>
              <a:buNone/>
            </a:pPr>
            <a:r>
              <a:t>Facilitator generates shared insights to support collective understanding and effective teamwork.</a:t>
            </a:r>
            <a:endParaRPr lang="en-US"/>
          </a:p>
        </p:txBody>
      </p:sp>
    </p:spTree>
    <p:extLst>
      <p:ext uri="{BB962C8B-B14F-4D97-AF65-F5344CB8AC3E}">
        <p14:creationId xmlns:p14="http://schemas.microsoft.com/office/powerpoint/2010/main" val="647728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52145-B030-191D-0883-1428A59DEEF0}"/>
              </a:ext>
            </a:extLst>
          </p:cNvPr>
          <p:cNvSpPr>
            <a:spLocks noGrp="1"/>
          </p:cNvSpPr>
          <p:nvPr>
            <p:ph type="title"/>
          </p:nvPr>
        </p:nvSpPr>
        <p:spPr>
          <a:xfrm>
            <a:off x="614677" y="1050111"/>
            <a:ext cx="3496147" cy="4940661"/>
          </a:xfrm>
        </p:spPr>
        <p:txBody>
          <a:bodyPr anchor="t">
            <a:normAutofit/>
          </a:bodyPr>
          <a:lstStyle/>
          <a:p>
            <a:r>
              <a:rPr lang="en-US"/>
              <a:t>Interpreter Agent</a:t>
            </a:r>
          </a:p>
        </p:txBody>
      </p:sp>
      <p:sp>
        <p:nvSpPr>
          <p:cNvPr id="3" name="Content Placeholder 2">
            <a:extLst>
              <a:ext uri="{FF2B5EF4-FFF2-40B4-BE49-F238E27FC236}">
                <a16:creationId xmlns:a16="http://schemas.microsoft.com/office/drawing/2014/main" id="{CB232ECD-4B18-A9BE-4035-4914C4BA0BB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Multilingual Voice Translation</a:t>
            </a:r>
          </a:p>
          <a:p>
            <a:pPr marL="0" lvl="1" indent="0">
              <a:buFont typeface="Arial" panose="020B0604020202020204" pitchFamily="34" charset="0"/>
              <a:buNone/>
            </a:pPr>
            <a:r>
              <a:t>Interpreter Agent supports real-time translation across nine major languages to aid diverse communication.</a:t>
            </a:r>
            <a:endParaRPr lang="en-US"/>
          </a:p>
          <a:p>
            <a:pPr marL="0" indent="0">
              <a:spcBef>
                <a:spcPts val="2500"/>
              </a:spcBef>
              <a:buFont typeface="Arial" panose="020B0604020202020204" pitchFamily="34" charset="0"/>
              <a:buNone/>
            </a:pPr>
            <a:r>
              <a:rPr lang="en-US" b="1"/>
              <a:t>Live Captions and Transcription</a:t>
            </a:r>
          </a:p>
          <a:p>
            <a:pPr marL="0" lvl="1" indent="0">
              <a:buFont typeface="Arial" panose="020B0604020202020204" pitchFamily="34" charset="0"/>
              <a:buNone/>
            </a:pPr>
            <a:r>
              <a:t>The agent works alongside live captions and transcription to enhance understanding during conversations.</a:t>
            </a:r>
            <a:endParaRPr lang="en-US"/>
          </a:p>
          <a:p>
            <a:pPr marL="0" indent="0">
              <a:spcBef>
                <a:spcPts val="2500"/>
              </a:spcBef>
              <a:buFont typeface="Arial" panose="020B0604020202020204" pitchFamily="34" charset="0"/>
              <a:buNone/>
            </a:pPr>
            <a:r>
              <a:rPr lang="en-US" b="1"/>
              <a:t>Admin Control and Licensing</a:t>
            </a:r>
          </a:p>
          <a:p>
            <a:pPr marL="0" lvl="1" indent="0">
              <a:buFont typeface="Arial" panose="020B0604020202020204" pitchFamily="34" charset="0"/>
              <a:buNone/>
            </a:pPr>
            <a:r>
              <a:t>Admins manage voice representation settings and a Copilot license is required for feature activation.</a:t>
            </a:r>
            <a:endParaRPr lang="en-US"/>
          </a:p>
          <a:p>
            <a:pPr marL="0" indent="0">
              <a:spcBef>
                <a:spcPts val="2500"/>
              </a:spcBef>
              <a:buFont typeface="Arial" panose="020B0604020202020204" pitchFamily="34" charset="0"/>
              <a:buNone/>
            </a:pPr>
            <a:r>
              <a:rPr lang="en-US" b="1"/>
              <a:t>Global Collaboration Benefit</a:t>
            </a:r>
          </a:p>
          <a:p>
            <a:pPr marL="0" lvl="1" indent="0">
              <a:buFont typeface="Arial" panose="020B0604020202020204" pitchFamily="34" charset="0"/>
              <a:buNone/>
            </a:pPr>
            <a:r>
              <a:t>This feature supports multilingual teams in global organizations, improving communication and collaboration.</a:t>
            </a:r>
            <a:endParaRPr lang="en-US"/>
          </a:p>
        </p:txBody>
      </p:sp>
    </p:spTree>
    <p:extLst>
      <p:ext uri="{BB962C8B-B14F-4D97-AF65-F5344CB8AC3E}">
        <p14:creationId xmlns:p14="http://schemas.microsoft.com/office/powerpoint/2010/main" val="4161996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08DD-8B9B-0359-735F-4733B23EE835}"/>
              </a:ext>
            </a:extLst>
          </p:cNvPr>
          <p:cNvSpPr>
            <a:spLocks noGrp="1"/>
          </p:cNvSpPr>
          <p:nvPr>
            <p:ph type="title"/>
          </p:nvPr>
        </p:nvSpPr>
        <p:spPr>
          <a:xfrm>
            <a:off x="614677" y="1050111"/>
            <a:ext cx="3496147" cy="4940661"/>
          </a:xfrm>
        </p:spPr>
        <p:txBody>
          <a:bodyPr anchor="t">
            <a:normAutofit/>
          </a:bodyPr>
          <a:lstStyle/>
          <a:p>
            <a:r>
              <a:rPr lang="en-US"/>
              <a:t>Intelligence Recap</a:t>
            </a:r>
          </a:p>
        </p:txBody>
      </p:sp>
      <p:sp>
        <p:nvSpPr>
          <p:cNvPr id="3" name="Content Placeholder 2">
            <a:extLst>
              <a:ext uri="{FF2B5EF4-FFF2-40B4-BE49-F238E27FC236}">
                <a16:creationId xmlns:a16="http://schemas.microsoft.com/office/drawing/2014/main" id="{65B8EEC4-0EEA-B226-B3D9-0F994E7D5605}"/>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Custom Question Capabilities</a:t>
            </a:r>
          </a:p>
          <a:p>
            <a:pPr marL="0" lvl="1" indent="0">
              <a:buFont typeface="Arial" panose="020B0604020202020204" pitchFamily="34" charset="0"/>
              <a:buNone/>
            </a:pPr>
            <a:r>
              <a:t>Enables users to ask tailored questions specific to their meeting, enhancing recap relevance and utility.</a:t>
            </a:r>
            <a:endParaRPr lang="en-US"/>
          </a:p>
          <a:p>
            <a:pPr marL="0" indent="0">
              <a:spcBef>
                <a:spcPts val="2500"/>
              </a:spcBef>
              <a:buFont typeface="Arial" panose="020B0604020202020204" pitchFamily="34" charset="0"/>
              <a:buNone/>
            </a:pPr>
            <a:r>
              <a:rPr lang="en-US" b="1"/>
              <a:t>Multilingual Support</a:t>
            </a:r>
          </a:p>
          <a:p>
            <a:pPr marL="0" lvl="1" indent="0">
              <a:buFont typeface="Arial" panose="020B0604020202020204" pitchFamily="34" charset="0"/>
              <a:buNone/>
            </a:pPr>
            <a:r>
              <a:t>Supports multiple languages to make meeting summaries accessible to diverse global teams.</a:t>
            </a:r>
            <a:endParaRPr lang="en-US"/>
          </a:p>
          <a:p>
            <a:pPr marL="0" indent="0">
              <a:spcBef>
                <a:spcPts val="2500"/>
              </a:spcBef>
              <a:buFont typeface="Arial" panose="020B0604020202020204" pitchFamily="34" charset="0"/>
              <a:buNone/>
            </a:pPr>
            <a:r>
              <a:rPr lang="en-US" b="1"/>
              <a:t>Integration with Meeting Chat</a:t>
            </a:r>
          </a:p>
          <a:p>
            <a:pPr marL="0" lvl="1" indent="0">
              <a:buFont typeface="Arial" panose="020B0604020202020204" pitchFamily="34" charset="0"/>
              <a:buNone/>
            </a:pPr>
            <a:r>
              <a:t>Seamlessly incorporates chat content into recaps for comprehensive meeting insights.</a:t>
            </a:r>
            <a:endParaRPr lang="en-US"/>
          </a:p>
          <a:p>
            <a:pPr marL="0" indent="0">
              <a:spcBef>
                <a:spcPts val="2500"/>
              </a:spcBef>
              <a:buFont typeface="Arial" panose="020B0604020202020204" pitchFamily="34" charset="0"/>
              <a:buNone/>
            </a:pPr>
            <a:r>
              <a:rPr lang="en-US" b="1"/>
              <a:t>Personalized Insights and Follow-up</a:t>
            </a:r>
          </a:p>
          <a:p>
            <a:pPr marL="0" lvl="1" indent="0">
              <a:buFont typeface="Arial" panose="020B0604020202020204" pitchFamily="34" charset="0"/>
              <a:buNone/>
            </a:pPr>
            <a:r>
              <a:t>Provides role-based insights and supports follow-up questions post-meeting for enhanced actionability.</a:t>
            </a:r>
            <a:endParaRPr lang="en-US"/>
          </a:p>
        </p:txBody>
      </p:sp>
    </p:spTree>
    <p:extLst>
      <p:ext uri="{BB962C8B-B14F-4D97-AF65-F5344CB8AC3E}">
        <p14:creationId xmlns:p14="http://schemas.microsoft.com/office/powerpoint/2010/main" val="4235873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05EF-2D1F-BD40-119F-A2AFBCD71FFC}"/>
              </a:ext>
            </a:extLst>
          </p:cNvPr>
          <p:cNvSpPr>
            <a:spLocks noGrp="1"/>
          </p:cNvSpPr>
          <p:nvPr>
            <p:ph type="title"/>
          </p:nvPr>
        </p:nvSpPr>
        <p:spPr>
          <a:xfrm>
            <a:off x="111758" y="1869103"/>
            <a:ext cx="9337042" cy="4906929"/>
          </a:xfrm>
        </p:spPr>
        <p:txBody>
          <a:bodyPr anchor="b">
            <a:normAutofit/>
          </a:bodyPr>
          <a:lstStyle/>
          <a:p>
            <a:r>
              <a:rPr lang="en-US"/>
              <a:t>Mixed License Scenarios</a:t>
            </a:r>
          </a:p>
        </p:txBody>
      </p:sp>
    </p:spTree>
    <p:extLst>
      <p:ext uri="{BB962C8B-B14F-4D97-AF65-F5344CB8AC3E}">
        <p14:creationId xmlns:p14="http://schemas.microsoft.com/office/powerpoint/2010/main" val="2994289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7B46-2497-4273-5922-83C9624E3D59}"/>
              </a:ext>
            </a:extLst>
          </p:cNvPr>
          <p:cNvSpPr>
            <a:spLocks noGrp="1"/>
          </p:cNvSpPr>
          <p:nvPr>
            <p:ph type="title"/>
          </p:nvPr>
        </p:nvSpPr>
        <p:spPr>
          <a:xfrm>
            <a:off x="614677" y="1050111"/>
            <a:ext cx="3496147" cy="4940661"/>
          </a:xfrm>
        </p:spPr>
        <p:txBody>
          <a:bodyPr anchor="t">
            <a:normAutofit/>
          </a:bodyPr>
          <a:lstStyle/>
          <a:p>
            <a:r>
              <a:rPr lang="en-US"/>
              <a:t>License Impact on Attendees</a:t>
            </a:r>
          </a:p>
        </p:txBody>
      </p:sp>
      <p:sp>
        <p:nvSpPr>
          <p:cNvPr id="3" name="Content Placeholder 2">
            <a:extLst>
              <a:ext uri="{FF2B5EF4-FFF2-40B4-BE49-F238E27FC236}">
                <a16:creationId xmlns:a16="http://schemas.microsoft.com/office/drawing/2014/main" id="{CBB9B38F-A331-7FEF-7545-9364AA2D1D1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License Determines Access</a:t>
            </a:r>
          </a:p>
          <a:p>
            <a:pPr marL="0" lvl="1" indent="0">
              <a:buFont typeface="Arial" panose="020B0604020202020204" pitchFamily="34" charset="0"/>
              <a:buNone/>
            </a:pPr>
            <a:r>
              <a:t>The organizer's license and settings dictate what attendees can access during meetings, affecting feature availability.</a:t>
            </a:r>
            <a:endParaRPr lang="en-US"/>
          </a:p>
          <a:p>
            <a:pPr marL="0" indent="0">
              <a:spcBef>
                <a:spcPts val="2500"/>
              </a:spcBef>
              <a:buFont typeface="Arial" panose="020B0604020202020204" pitchFamily="34" charset="0"/>
              <a:buNone/>
            </a:pPr>
            <a:r>
              <a:rPr lang="en-US" b="1"/>
              <a:t>Feature Restrictions for Non-Licensed</a:t>
            </a:r>
          </a:p>
          <a:p>
            <a:pPr marL="0" lvl="1" indent="0">
              <a:buFont typeface="Arial" panose="020B0604020202020204" pitchFamily="34" charset="0"/>
              <a:buNone/>
            </a:pPr>
            <a:r>
              <a:t>Non-licensed attendees cannot access private Copilot responses or Interpreter features but can view facilitator interactions.</a:t>
            </a:r>
            <a:endParaRPr lang="en-US"/>
          </a:p>
          <a:p>
            <a:pPr marL="0" indent="0">
              <a:spcBef>
                <a:spcPts val="2500"/>
              </a:spcBef>
              <a:buFont typeface="Arial" panose="020B0604020202020204" pitchFamily="34" charset="0"/>
              <a:buNone/>
            </a:pPr>
            <a:r>
              <a:rPr lang="en-US" b="1"/>
              <a:t>Flexible Access Controls</a:t>
            </a:r>
          </a:p>
          <a:p>
            <a:pPr marL="0" lvl="1" indent="0">
              <a:buFont typeface="Arial" panose="020B0604020202020204" pitchFamily="34" charset="0"/>
              <a:buNone/>
            </a:pPr>
            <a:r>
              <a:t>New controls introduced in 2024 allow organizers to restrict transcript and recap access to specific roles or individuals.</a:t>
            </a:r>
            <a:endParaRPr lang="en-US"/>
          </a:p>
        </p:txBody>
      </p:sp>
    </p:spTree>
    <p:extLst>
      <p:ext uri="{BB962C8B-B14F-4D97-AF65-F5344CB8AC3E}">
        <p14:creationId xmlns:p14="http://schemas.microsoft.com/office/powerpoint/2010/main" val="1494678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0186C-E497-65C7-B16F-7A7F09842D93}"/>
              </a:ext>
            </a:extLst>
          </p:cNvPr>
          <p:cNvSpPr>
            <a:spLocks noGrp="1"/>
          </p:cNvSpPr>
          <p:nvPr>
            <p:ph type="title"/>
          </p:nvPr>
        </p:nvSpPr>
        <p:spPr>
          <a:xfrm>
            <a:off x="614677" y="1050111"/>
            <a:ext cx="3496147" cy="4940661"/>
          </a:xfrm>
        </p:spPr>
        <p:txBody>
          <a:bodyPr anchor="t">
            <a:normAutofit/>
          </a:bodyPr>
          <a:lstStyle/>
          <a:p>
            <a:r>
              <a:rPr lang="en-US"/>
              <a:t>Scenario 1: Mixed License Meeting</a:t>
            </a:r>
          </a:p>
        </p:txBody>
      </p:sp>
      <p:sp>
        <p:nvSpPr>
          <p:cNvPr id="3" name="Content Placeholder 2">
            <a:extLst>
              <a:ext uri="{FF2B5EF4-FFF2-40B4-BE49-F238E27FC236}">
                <a16:creationId xmlns:a16="http://schemas.microsoft.com/office/drawing/2014/main" id="{8BFC57D3-7008-44E6-9756-E007E0B1FD0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Meeting with Mixed Licenses</a:t>
            </a:r>
          </a:p>
          <a:p>
            <a:pPr marL="0" lvl="1" indent="0">
              <a:buFont typeface="Arial" panose="020B0604020202020204" pitchFamily="34" charset="0"/>
              <a:buNone/>
            </a:pPr>
            <a:r>
              <a:t>Meetings include attendees with and without premium licenses, creating a mixed-license environment.</a:t>
            </a:r>
            <a:endParaRPr lang="en-US"/>
          </a:p>
          <a:p>
            <a:pPr marL="0" indent="0">
              <a:spcBef>
                <a:spcPts val="2500"/>
              </a:spcBef>
              <a:buFont typeface="Arial" panose="020B0604020202020204" pitchFamily="34" charset="0"/>
              <a:buNone/>
            </a:pPr>
            <a:r>
              <a:rPr lang="en-US" b="1"/>
              <a:t>Private Copilot Assistance</a:t>
            </a:r>
          </a:p>
          <a:p>
            <a:pPr marL="0" lvl="1" indent="0">
              <a:buFont typeface="Arial" panose="020B0604020202020204" pitchFamily="34" charset="0"/>
              <a:buNone/>
            </a:pPr>
            <a:r>
              <a:t>Licensed users receive private AI assistance during the meeting improving productivity and engagement.</a:t>
            </a:r>
            <a:endParaRPr lang="en-US"/>
          </a:p>
          <a:p>
            <a:pPr marL="0" indent="0">
              <a:spcBef>
                <a:spcPts val="2500"/>
              </a:spcBef>
              <a:buFont typeface="Arial" panose="020B0604020202020204" pitchFamily="34" charset="0"/>
              <a:buNone/>
            </a:pPr>
            <a:r>
              <a:rPr lang="en-US" b="1"/>
              <a:t>Access to Meeting Content</a:t>
            </a:r>
          </a:p>
          <a:p>
            <a:pPr marL="0" lvl="1" indent="0">
              <a:buFont typeface="Arial" panose="020B0604020202020204" pitchFamily="34" charset="0"/>
              <a:buNone/>
            </a:pPr>
            <a:r>
              <a:t>Access to transcripts and recordings depends on organizer settings, with facilitator notes shared with all.</a:t>
            </a:r>
            <a:endParaRPr lang="en-US"/>
          </a:p>
          <a:p>
            <a:pPr marL="0" indent="0">
              <a:spcBef>
                <a:spcPts val="2500"/>
              </a:spcBef>
              <a:buFont typeface="Arial" panose="020B0604020202020204" pitchFamily="34" charset="0"/>
              <a:buNone/>
            </a:pPr>
            <a:r>
              <a:rPr lang="en-US" b="1"/>
              <a:t>Intelligent Recap and Queries</a:t>
            </a:r>
          </a:p>
          <a:p>
            <a:pPr marL="0" lvl="1" indent="0">
              <a:buFont typeface="Arial" panose="020B0604020202020204" pitchFamily="34" charset="0"/>
              <a:buNone/>
            </a:pPr>
            <a:r>
              <a:t>Only licensed users get intelligent meeting recap and can query the AI assistant post-meeting.</a:t>
            </a:r>
            <a:endParaRPr lang="en-US"/>
          </a:p>
        </p:txBody>
      </p:sp>
    </p:spTree>
    <p:extLst>
      <p:ext uri="{BB962C8B-B14F-4D97-AF65-F5344CB8AC3E}">
        <p14:creationId xmlns:p14="http://schemas.microsoft.com/office/powerpoint/2010/main" val="14097560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E295B-5F05-9342-6DA0-E28A2BA8691B}"/>
              </a:ext>
            </a:extLst>
          </p:cNvPr>
          <p:cNvSpPr>
            <a:spLocks noGrp="1"/>
          </p:cNvSpPr>
          <p:nvPr>
            <p:ph type="title"/>
          </p:nvPr>
        </p:nvSpPr>
        <p:spPr>
          <a:xfrm>
            <a:off x="614677" y="1050111"/>
            <a:ext cx="3496147" cy="4940661"/>
          </a:xfrm>
        </p:spPr>
        <p:txBody>
          <a:bodyPr anchor="t">
            <a:normAutofit/>
          </a:bodyPr>
          <a:lstStyle/>
          <a:p>
            <a:r>
              <a:rPr lang="en-US"/>
              <a:t>Scenario 2: 'Only During Meeting' Mode</a:t>
            </a:r>
          </a:p>
        </p:txBody>
      </p:sp>
      <p:sp>
        <p:nvSpPr>
          <p:cNvPr id="3" name="Content Placeholder 2">
            <a:extLst>
              <a:ext uri="{FF2B5EF4-FFF2-40B4-BE49-F238E27FC236}">
                <a16:creationId xmlns:a16="http://schemas.microsoft.com/office/drawing/2014/main" id="{D7F9B50F-7B8D-102B-59B7-ADD5C16D6F52}"/>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Privacy-Focused Assistance</a:t>
            </a:r>
          </a:p>
          <a:p>
            <a:pPr marL="0" lvl="1" indent="0">
              <a:buFont typeface="Arial" panose="020B0604020202020204" pitchFamily="34" charset="0"/>
              <a:buNone/>
            </a:pPr>
            <a:r>
              <a:t>Copilot assists only during meetings, ensuring data is processed in real-time without retention afterward.</a:t>
            </a:r>
            <a:endParaRPr lang="en-US"/>
          </a:p>
          <a:p>
            <a:pPr marL="0" indent="0">
              <a:spcBef>
                <a:spcPts val="2500"/>
              </a:spcBef>
              <a:buFont typeface="Arial" panose="020B0604020202020204" pitchFamily="34" charset="0"/>
              <a:buNone/>
            </a:pPr>
            <a:r>
              <a:rPr lang="en-US" b="1"/>
              <a:t>No Post-Meeting Data Storage</a:t>
            </a:r>
          </a:p>
          <a:p>
            <a:pPr marL="0" lvl="1" indent="0">
              <a:buFont typeface="Arial" panose="020B0604020202020204" pitchFamily="34" charset="0"/>
              <a:buNone/>
            </a:pPr>
            <a:r>
              <a:t>All meeting data including transcripts are discarded immediately after the meeting ends, protecting privacy.</a:t>
            </a:r>
            <a:endParaRPr lang="en-US"/>
          </a:p>
          <a:p>
            <a:pPr marL="0" indent="0">
              <a:spcBef>
                <a:spcPts val="2500"/>
              </a:spcBef>
              <a:buFont typeface="Arial" panose="020B0604020202020204" pitchFamily="34" charset="0"/>
              <a:buNone/>
            </a:pPr>
            <a:r>
              <a:rPr lang="en-US" b="1"/>
              <a:t>Suitable for Regulated Industries</a:t>
            </a:r>
          </a:p>
          <a:p>
            <a:pPr marL="0" lvl="1" indent="0">
              <a:buFont typeface="Arial" panose="020B0604020202020204" pitchFamily="34" charset="0"/>
              <a:buNone/>
            </a:pPr>
            <a:r>
              <a:t>This mode balances AI benefits with strict data retention policies ideal for sensitive, regulated environments.</a:t>
            </a:r>
            <a:endParaRPr lang="en-US"/>
          </a:p>
        </p:txBody>
      </p:sp>
    </p:spTree>
    <p:extLst>
      <p:ext uri="{BB962C8B-B14F-4D97-AF65-F5344CB8AC3E}">
        <p14:creationId xmlns:p14="http://schemas.microsoft.com/office/powerpoint/2010/main" val="1464971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F116-D9E3-A207-CF90-E6B31F993DE0}"/>
              </a:ext>
            </a:extLst>
          </p:cNvPr>
          <p:cNvSpPr>
            <a:spLocks noGrp="1"/>
          </p:cNvSpPr>
          <p:nvPr>
            <p:ph type="title"/>
          </p:nvPr>
        </p:nvSpPr>
        <p:spPr>
          <a:xfrm>
            <a:off x="111758" y="1869103"/>
            <a:ext cx="9337042" cy="4906929"/>
          </a:xfrm>
        </p:spPr>
        <p:txBody>
          <a:bodyPr anchor="b">
            <a:normAutofit/>
          </a:bodyPr>
          <a:lstStyle/>
          <a:p>
            <a:r>
              <a:rPr lang="en-US"/>
              <a:t>Voice and Calling Features</a:t>
            </a:r>
          </a:p>
        </p:txBody>
      </p:sp>
    </p:spTree>
    <p:extLst>
      <p:ext uri="{BB962C8B-B14F-4D97-AF65-F5344CB8AC3E}">
        <p14:creationId xmlns:p14="http://schemas.microsoft.com/office/powerpoint/2010/main" val="1751994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91A06-7780-BA63-193F-DE67FE433AA7}"/>
              </a:ext>
            </a:extLst>
          </p:cNvPr>
          <p:cNvSpPr>
            <a:spLocks noGrp="1"/>
          </p:cNvSpPr>
          <p:nvPr>
            <p:ph type="title"/>
          </p:nvPr>
        </p:nvSpPr>
        <p:spPr>
          <a:xfrm>
            <a:off x="2790911" y="2133600"/>
            <a:ext cx="6623436" cy="1070776"/>
          </a:xfrm>
        </p:spPr>
        <p:txBody>
          <a:bodyPr anchor="b">
            <a:normAutofit/>
          </a:bodyPr>
          <a:lstStyle/>
          <a:p>
            <a:r>
              <a:rPr lang="en-US"/>
              <a:t>Copilot in Calling Scenarios</a:t>
            </a:r>
          </a:p>
        </p:txBody>
      </p:sp>
      <p:graphicFrame>
        <p:nvGraphicFramePr>
          <p:cNvPr id="5" name="Content Placeholder 4">
            <a:extLst>
              <a:ext uri="{FF2B5EF4-FFF2-40B4-BE49-F238E27FC236}">
                <a16:creationId xmlns:a16="http://schemas.microsoft.com/office/drawing/2014/main" id="{7B5741D5-E0E7-42DE-AC72-9088408E1CC4}"/>
              </a:ext>
            </a:extLst>
          </p:cNvPr>
          <p:cNvGraphicFramePr>
            <a:graphicFrameLocks noGrp="1"/>
          </p:cNvGraphicFramePr>
          <p:nvPr>
            <p:ph sz="quarter" idx="13"/>
          </p:nvPr>
        </p:nvGraphicFramePr>
        <p:xfrm>
          <a:off x="3768725" y="3601268"/>
          <a:ext cx="4659315" cy="1619205"/>
        </p:xfrm>
        <a:graphic>
          <a:graphicData uri="http://schemas.openxmlformats.org/drawingml/2006/table">
            <a:tbl>
              <a:tblPr firstRow="1" bandRow="1">
                <a:noFill/>
                <a:tableStyleId>{5C22544A-7EE6-4342-B048-85BDC9FD1C3A}</a:tableStyleId>
              </a:tblPr>
              <a:tblGrid>
                <a:gridCol w="1399543">
                  <a:extLst>
                    <a:ext uri="{9D8B030D-6E8A-4147-A177-3AD203B41FA5}">
                      <a16:colId xmlns:a16="http://schemas.microsoft.com/office/drawing/2014/main" val="2714895580"/>
                    </a:ext>
                  </a:extLst>
                </a:gridCol>
                <a:gridCol w="1463940">
                  <a:extLst>
                    <a:ext uri="{9D8B030D-6E8A-4147-A177-3AD203B41FA5}">
                      <a16:colId xmlns:a16="http://schemas.microsoft.com/office/drawing/2014/main" val="297014532"/>
                    </a:ext>
                  </a:extLst>
                </a:gridCol>
                <a:gridCol w="1795832">
                  <a:extLst>
                    <a:ext uri="{9D8B030D-6E8A-4147-A177-3AD203B41FA5}">
                      <a16:colId xmlns:a16="http://schemas.microsoft.com/office/drawing/2014/main" val="476862259"/>
                    </a:ext>
                  </a:extLst>
                </a:gridCol>
              </a:tblGrid>
              <a:tr h="512357">
                <a:tc>
                  <a:txBody>
                    <a:bodyPr/>
                    <a:lstStyle/>
                    <a:p>
                      <a:pPr>
                        <a:buNone/>
                      </a:pPr>
                      <a:r>
                        <a:rPr lang="en-US" sz="1000" b="1" cap="all" spc="150">
                          <a:solidFill>
                            <a:schemeClr val="tx1"/>
                          </a:solidFill>
                        </a:rPr>
                        <a:t>Call Type</a:t>
                      </a:r>
                    </a:p>
                  </a:txBody>
                  <a:tcPr marL="88000" marR="88000" marT="88000" marB="88000"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000" b="1" cap="all" spc="150">
                          <a:solidFill>
                            <a:schemeClr val="tx1"/>
                          </a:solidFill>
                        </a:rPr>
                        <a:t>Required Licenses</a:t>
                      </a:r>
                    </a:p>
                  </a:txBody>
                  <a:tcPr marL="88000" marR="88000" marT="88000" marB="88000"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000" b="1" cap="all" spc="150">
                          <a:solidFill>
                            <a:schemeClr val="tx1"/>
                          </a:solidFill>
                        </a:rPr>
                        <a:t>Copilot Availability</a:t>
                      </a:r>
                    </a:p>
                  </a:txBody>
                  <a:tcPr marL="88000" marR="88000" marT="88000" marB="88000"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112319830"/>
                  </a:ext>
                </a:extLst>
              </a:tr>
              <a:tr h="326579">
                <a:tc>
                  <a:txBody>
                    <a:bodyPr/>
                    <a:lstStyle/>
                    <a:p>
                      <a:pPr>
                        <a:buNone/>
                      </a:pPr>
                      <a:r>
                        <a:rPr lang="en-US" sz="800" b="1" cap="none" spc="0">
                          <a:solidFill>
                            <a:schemeClr val="tx1"/>
                          </a:solidFill>
                        </a:rPr>
                        <a:t>1:1 Teams VoIP</a:t>
                      </a:r>
                    </a:p>
                  </a:txBody>
                  <a:tcPr marL="88000" marR="88000" marT="88000" marB="8800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800" cap="none" spc="0">
                          <a:solidFill>
                            <a:schemeClr val="tx1"/>
                          </a:solidFill>
                        </a:rPr>
                        <a:t>Microsoft 365 + Copilot</a:t>
                      </a:r>
                    </a:p>
                  </a:txBody>
                  <a:tcPr marL="88000" marR="88000" marT="88000" marB="8800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800" cap="none" spc="0">
                          <a:solidFill>
                            <a:schemeClr val="tx1"/>
                          </a:solidFill>
                        </a:rPr>
                        <a:t>✅ Full features</a:t>
                      </a:r>
                    </a:p>
                  </a:txBody>
                  <a:tcPr marL="88000" marR="88000" marT="88000" marB="88000"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609232627"/>
                  </a:ext>
                </a:extLst>
              </a:tr>
              <a:tr h="326579">
                <a:tc>
                  <a:txBody>
                    <a:bodyPr/>
                    <a:lstStyle/>
                    <a:p>
                      <a:pPr>
                        <a:buNone/>
                      </a:pPr>
                      <a:r>
                        <a:rPr lang="en-US" sz="800" b="1" cap="none" spc="0">
                          <a:solidFill>
                            <a:schemeClr val="tx1"/>
                          </a:solidFill>
                        </a:rPr>
                        <a:t>Group VoIP calls</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Microsoft 365 + Copilot</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 Full features</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461235118"/>
                  </a:ext>
                </a:extLst>
              </a:tr>
              <a:tr h="453690">
                <a:tc>
                  <a:txBody>
                    <a:bodyPr/>
                    <a:lstStyle/>
                    <a:p>
                      <a:pPr>
                        <a:buNone/>
                      </a:pPr>
                      <a:r>
                        <a:rPr lang="en-US" sz="800" b="1" cap="none" spc="0">
                          <a:solidFill>
                            <a:schemeClr val="tx1"/>
                          </a:solidFill>
                        </a:rPr>
                        <a:t>PSTN calls</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Teams Phone + Calling Plan + Copilot</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800" cap="none" spc="0">
                          <a:solidFill>
                            <a:schemeClr val="tx1"/>
                          </a:solidFill>
                        </a:rPr>
                        <a:t>✅ With restrictions</a:t>
                      </a:r>
                    </a:p>
                  </a:txBody>
                  <a:tcPr marL="88000" marR="88000" marT="88000" marB="88000"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991730590"/>
                  </a:ext>
                </a:extLst>
              </a:tr>
            </a:tbl>
          </a:graphicData>
        </a:graphic>
      </p:graphicFrame>
    </p:spTree>
    <p:extLst>
      <p:ext uri="{BB962C8B-B14F-4D97-AF65-F5344CB8AC3E}">
        <p14:creationId xmlns:p14="http://schemas.microsoft.com/office/powerpoint/2010/main" val="52184787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3088C-6A4C-A5BB-8F17-1AF65E27B29A}"/>
              </a:ext>
            </a:extLst>
          </p:cNvPr>
          <p:cNvSpPr>
            <a:spLocks noGrp="1"/>
          </p:cNvSpPr>
          <p:nvPr>
            <p:ph type="title"/>
          </p:nvPr>
        </p:nvSpPr>
        <p:spPr>
          <a:xfrm>
            <a:off x="614677" y="1050111"/>
            <a:ext cx="3496147" cy="4940661"/>
          </a:xfrm>
        </p:spPr>
        <p:txBody>
          <a:bodyPr anchor="t">
            <a:normAutofit/>
          </a:bodyPr>
          <a:lstStyle/>
          <a:p>
            <a:r>
              <a:rPr lang="en-US"/>
              <a:t>Teams Phone Device Support</a:t>
            </a:r>
          </a:p>
        </p:txBody>
      </p:sp>
      <p:sp>
        <p:nvSpPr>
          <p:cNvPr id="3" name="Content Placeholder 2">
            <a:extLst>
              <a:ext uri="{FF2B5EF4-FFF2-40B4-BE49-F238E27FC236}">
                <a16:creationId xmlns:a16="http://schemas.microsoft.com/office/drawing/2014/main" id="{BAB8F2D5-E4B7-7502-E8EC-24FF9693E79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Copilot Availability</a:t>
            </a:r>
          </a:p>
          <a:p>
            <a:pPr marL="0" lvl="1" indent="0">
              <a:buFont typeface="Arial" panose="020B0604020202020204" pitchFamily="34" charset="0"/>
              <a:buNone/>
            </a:pPr>
            <a:r>
              <a:t>Copilot works on physical Teams phones with transcription or cloud recording enabled to enhance call management.</a:t>
            </a:r>
            <a:endParaRPr lang="en-US"/>
          </a:p>
          <a:p>
            <a:pPr marL="0" indent="0">
              <a:spcBef>
                <a:spcPts val="2500"/>
              </a:spcBef>
              <a:buFont typeface="Arial" panose="020B0604020202020204" pitchFamily="34" charset="0"/>
              <a:buNone/>
            </a:pPr>
            <a:r>
              <a:rPr lang="en-US" b="1"/>
              <a:t>Required Licenses</a:t>
            </a:r>
          </a:p>
          <a:p>
            <a:pPr marL="0" lvl="1" indent="0">
              <a:buFont typeface="Arial" panose="020B0604020202020204" pitchFamily="34" charset="0"/>
              <a:buNone/>
            </a:pPr>
            <a:r>
              <a:t>Licenses needed are Microsoft 365, Teams, Teams Phone, and Copilot for full functionality on Teams phones.</a:t>
            </a:r>
            <a:endParaRPr lang="en-US"/>
          </a:p>
          <a:p>
            <a:pPr marL="0" indent="0">
              <a:spcBef>
                <a:spcPts val="2500"/>
              </a:spcBef>
              <a:buFont typeface="Arial" panose="020B0604020202020204" pitchFamily="34" charset="0"/>
              <a:buNone/>
            </a:pPr>
            <a:r>
              <a:rPr lang="en-US" b="1"/>
              <a:t>AI Features Benefits</a:t>
            </a:r>
          </a:p>
          <a:p>
            <a:pPr marL="0" lvl="1" indent="0">
              <a:buFont typeface="Arial" panose="020B0604020202020204" pitchFamily="34" charset="0"/>
              <a:buNone/>
            </a:pPr>
            <a:r>
              <a:t>AI generates call summaries and in-call prompts to capture conversations and list action items efficiently.</a:t>
            </a:r>
            <a:endParaRPr lang="en-US"/>
          </a:p>
          <a:p>
            <a:pPr marL="0" indent="0">
              <a:spcBef>
                <a:spcPts val="2500"/>
              </a:spcBef>
              <a:buFont typeface="Arial" panose="020B0604020202020204" pitchFamily="34" charset="0"/>
              <a:buNone/>
            </a:pPr>
            <a:r>
              <a:rPr lang="en-US" b="1"/>
              <a:t>User Roles Impacted</a:t>
            </a:r>
          </a:p>
          <a:p>
            <a:pPr marL="0" lvl="1" indent="0">
              <a:buFont typeface="Arial" panose="020B0604020202020204" pitchFamily="34" charset="0"/>
              <a:buNone/>
            </a:pPr>
            <a:r>
              <a:t>Front-desk staff and executive assistants benefit most from AI tools managing high call volumes effectively.</a:t>
            </a:r>
            <a:endParaRPr lang="en-US"/>
          </a:p>
        </p:txBody>
      </p:sp>
    </p:spTree>
    <p:extLst>
      <p:ext uri="{BB962C8B-B14F-4D97-AF65-F5344CB8AC3E}">
        <p14:creationId xmlns:p14="http://schemas.microsoft.com/office/powerpoint/2010/main" val="16262477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E562D-EFFF-2A23-C74E-645AF6BC84A8}"/>
              </a:ext>
            </a:extLst>
          </p:cNvPr>
          <p:cNvSpPr>
            <a:spLocks noGrp="1"/>
          </p:cNvSpPr>
          <p:nvPr>
            <p:ph type="title"/>
          </p:nvPr>
        </p:nvSpPr>
        <p:spPr>
          <a:xfrm>
            <a:off x="111758" y="1869103"/>
            <a:ext cx="9337042" cy="4906929"/>
          </a:xfrm>
        </p:spPr>
        <p:txBody>
          <a:bodyPr anchor="b">
            <a:normAutofit/>
          </a:bodyPr>
          <a:lstStyle/>
          <a:p>
            <a:r>
              <a:rPr lang="en-US"/>
              <a:t>Advanced Controls and Compliance</a:t>
            </a:r>
          </a:p>
        </p:txBody>
      </p:sp>
    </p:spTree>
    <p:extLst>
      <p:ext uri="{BB962C8B-B14F-4D97-AF65-F5344CB8AC3E}">
        <p14:creationId xmlns:p14="http://schemas.microsoft.com/office/powerpoint/2010/main" val="16851676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1E404-25FC-E1EF-7DFD-748F68096DCD}"/>
              </a:ext>
            </a:extLst>
          </p:cNvPr>
          <p:cNvSpPr>
            <a:spLocks noGrp="1"/>
          </p:cNvSpPr>
          <p:nvPr>
            <p:ph type="title"/>
          </p:nvPr>
        </p:nvSpPr>
        <p:spPr>
          <a:xfrm>
            <a:off x="614677" y="1050111"/>
            <a:ext cx="3496147" cy="4940661"/>
          </a:xfrm>
        </p:spPr>
        <p:txBody>
          <a:bodyPr anchor="t">
            <a:normAutofit/>
          </a:bodyPr>
          <a:lstStyle/>
          <a:p>
            <a:r>
              <a:rPr lang="en-US"/>
              <a:t>Multi-Tenant Organization Support</a:t>
            </a:r>
          </a:p>
        </p:txBody>
      </p:sp>
      <p:sp>
        <p:nvSpPr>
          <p:cNvPr id="3" name="Content Placeholder 2">
            <a:extLst>
              <a:ext uri="{FF2B5EF4-FFF2-40B4-BE49-F238E27FC236}">
                <a16:creationId xmlns:a16="http://schemas.microsoft.com/office/drawing/2014/main" id="{4F8BF1B1-8A90-AD75-2336-78B63CECA3F4}"/>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Default Copilot Access Setting</a:t>
            </a:r>
          </a:p>
          <a:p>
            <a:pPr marL="0" lvl="1" indent="0">
              <a:buFont typeface="Arial" panose="020B0604020202020204" pitchFamily="34" charset="0"/>
              <a:buNone/>
            </a:pPr>
            <a:r>
              <a:t>The 'Allow Copilot for B2B members' setting is enabled by default to support cross-organization AI collaboration.</a:t>
            </a:r>
            <a:endParaRPr lang="en-US"/>
          </a:p>
          <a:p>
            <a:pPr marL="0" indent="0">
              <a:spcBef>
                <a:spcPts val="2500"/>
              </a:spcBef>
              <a:buFont typeface="Arial" panose="020B0604020202020204" pitchFamily="34" charset="0"/>
              <a:buNone/>
            </a:pPr>
            <a:r>
              <a:rPr lang="en-US" b="1"/>
              <a:t>Admin Control Options</a:t>
            </a:r>
          </a:p>
          <a:p>
            <a:pPr marL="0" lvl="1" indent="0">
              <a:buFont typeface="Arial" panose="020B0604020202020204" pitchFamily="34" charset="0"/>
              <a:buNone/>
            </a:pPr>
            <a:r>
              <a:t>Admins can disable Copilot access to prevent cross-tenant AI sharing if organizational security requires it.</a:t>
            </a:r>
            <a:endParaRPr lang="en-US"/>
          </a:p>
          <a:p>
            <a:pPr marL="0" indent="0">
              <a:spcBef>
                <a:spcPts val="2500"/>
              </a:spcBef>
              <a:buFont typeface="Arial" panose="020B0604020202020204" pitchFamily="34" charset="0"/>
              <a:buNone/>
            </a:pPr>
            <a:r>
              <a:rPr lang="en-US" b="1"/>
              <a:t>Enterprise Collaboration Impact</a:t>
            </a:r>
          </a:p>
          <a:p>
            <a:pPr marL="0" lvl="1" indent="0">
              <a:buFont typeface="Arial" panose="020B0604020202020204" pitchFamily="34" charset="0"/>
              <a:buNone/>
            </a:pPr>
            <a:r>
              <a:t>This policy enables secure collaboration across subsidiaries in large multi-tenant organizations.</a:t>
            </a:r>
            <a:endParaRPr lang="en-US"/>
          </a:p>
        </p:txBody>
      </p:sp>
    </p:spTree>
    <p:extLst>
      <p:ext uri="{BB962C8B-B14F-4D97-AF65-F5344CB8AC3E}">
        <p14:creationId xmlns:p14="http://schemas.microsoft.com/office/powerpoint/2010/main" val="1263893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3561-17D7-BD83-E80F-A8010DFA36D5}"/>
              </a:ext>
            </a:extLst>
          </p:cNvPr>
          <p:cNvSpPr>
            <a:spLocks noGrp="1"/>
          </p:cNvSpPr>
          <p:nvPr>
            <p:ph type="title"/>
          </p:nvPr>
        </p:nvSpPr>
        <p:spPr>
          <a:xfrm>
            <a:off x="614677" y="1050111"/>
            <a:ext cx="3496147" cy="4940661"/>
          </a:xfrm>
        </p:spPr>
        <p:txBody>
          <a:bodyPr anchor="t">
            <a:normAutofit/>
          </a:bodyPr>
          <a:lstStyle/>
          <a:p>
            <a:r>
              <a:rPr lang="en-US"/>
              <a:t>Storage and Ownership Changes</a:t>
            </a:r>
          </a:p>
        </p:txBody>
      </p:sp>
      <p:sp>
        <p:nvSpPr>
          <p:cNvPr id="3" name="Content Placeholder 2">
            <a:extLst>
              <a:ext uri="{FF2B5EF4-FFF2-40B4-BE49-F238E27FC236}">
                <a16:creationId xmlns:a16="http://schemas.microsoft.com/office/drawing/2014/main" id="{734FC7A0-3ED7-2DDF-6752-7044EDFC197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Ownership of Meeting Artifacts</a:t>
            </a:r>
          </a:p>
          <a:p>
            <a:pPr marL="0" lvl="1" indent="0">
              <a:buFont typeface="Arial" panose="020B0604020202020204" pitchFamily="34" charset="0"/>
              <a:buNone/>
            </a:pPr>
            <a:r>
              <a:t>Meeting recordings and transcripts are owned by the organizer and stored in their OneDrive starting June 2024.</a:t>
            </a:r>
            <a:endParaRPr lang="en-US"/>
          </a:p>
          <a:p>
            <a:pPr marL="0" indent="0">
              <a:spcBef>
                <a:spcPts val="2500"/>
              </a:spcBef>
              <a:buFont typeface="Arial" panose="020B0604020202020204" pitchFamily="34" charset="0"/>
              <a:buNone/>
            </a:pPr>
            <a:r>
              <a:rPr lang="en-US" b="1"/>
              <a:t>Editing and Access Permissions</a:t>
            </a:r>
          </a:p>
          <a:p>
            <a:pPr marL="0" lvl="1" indent="0">
              <a:buFont typeface="Arial" panose="020B0604020202020204" pitchFamily="34" charset="0"/>
              <a:buNone/>
            </a:pPr>
            <a:r>
              <a:t>Co-organizers have editing rights and organizers control download permissions and access via Stream.</a:t>
            </a:r>
            <a:endParaRPr lang="en-US"/>
          </a:p>
          <a:p>
            <a:pPr marL="0" indent="0">
              <a:spcBef>
                <a:spcPts val="2500"/>
              </a:spcBef>
              <a:buFont typeface="Arial" panose="020B0604020202020204" pitchFamily="34" charset="0"/>
              <a:buNone/>
            </a:pPr>
            <a:r>
              <a:rPr lang="en-US" b="1"/>
              <a:t>Admin Policy Controls</a:t>
            </a:r>
          </a:p>
          <a:p>
            <a:pPr marL="0" lvl="1" indent="0">
              <a:buFont typeface="Arial" panose="020B0604020202020204" pitchFamily="34" charset="0"/>
              <a:buNone/>
            </a:pPr>
            <a:r>
              <a:t>Admin policies can block downloads organization-wide to ensure centralized data governance.</a:t>
            </a:r>
            <a:endParaRPr lang="en-US"/>
          </a:p>
        </p:txBody>
      </p:sp>
    </p:spTree>
    <p:extLst>
      <p:ext uri="{BB962C8B-B14F-4D97-AF65-F5344CB8AC3E}">
        <p14:creationId xmlns:p14="http://schemas.microsoft.com/office/powerpoint/2010/main" val="27029394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03B2-1222-9D70-F1AA-126C354AE91E}"/>
              </a:ext>
            </a:extLst>
          </p:cNvPr>
          <p:cNvSpPr>
            <a:spLocks noGrp="1"/>
          </p:cNvSpPr>
          <p:nvPr>
            <p:ph type="title"/>
          </p:nvPr>
        </p:nvSpPr>
        <p:spPr>
          <a:xfrm>
            <a:off x="614677" y="1050111"/>
            <a:ext cx="3496147" cy="4940661"/>
          </a:xfrm>
        </p:spPr>
        <p:txBody>
          <a:bodyPr anchor="t">
            <a:normAutofit/>
          </a:bodyPr>
          <a:lstStyle/>
          <a:p>
            <a:r>
              <a:rPr lang="en-US"/>
              <a:t>Granular Access Controls</a:t>
            </a:r>
          </a:p>
        </p:txBody>
      </p:sp>
      <p:sp>
        <p:nvSpPr>
          <p:cNvPr id="3" name="Content Placeholder 2">
            <a:extLst>
              <a:ext uri="{FF2B5EF4-FFF2-40B4-BE49-F238E27FC236}">
                <a16:creationId xmlns:a16="http://schemas.microsoft.com/office/drawing/2014/main" id="{277FF87F-3F1F-FA35-0992-88F1465770C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Access Levels Options</a:t>
            </a:r>
          </a:p>
          <a:p>
            <a:pPr marL="0" lvl="1" indent="0">
              <a:buFont typeface="Arial" panose="020B0604020202020204" pitchFamily="34" charset="0"/>
              <a:buNone/>
            </a:pPr>
            <a:r>
              <a:t>Users can select from Everyone, Organizers and Co-organizers, or Specific People for meeting artifact access.</a:t>
            </a:r>
            <a:endParaRPr lang="en-US"/>
          </a:p>
          <a:p>
            <a:pPr marL="0" indent="0">
              <a:spcBef>
                <a:spcPts val="2500"/>
              </a:spcBef>
              <a:buFont typeface="Arial" panose="020B0604020202020204" pitchFamily="34" charset="0"/>
              <a:buNone/>
            </a:pPr>
            <a:r>
              <a:rPr lang="en-US" b="1"/>
              <a:t>Applicable Artifacts</a:t>
            </a:r>
          </a:p>
          <a:p>
            <a:pPr marL="0" lvl="1" indent="0">
              <a:buFont typeface="Arial" panose="020B0604020202020204" pitchFamily="34" charset="0"/>
              <a:buNone/>
            </a:pPr>
            <a:r>
              <a:t>Access controls apply to recordings, transcripts, AI insights, and Copilot responses within meetings.</a:t>
            </a:r>
            <a:endParaRPr lang="en-US"/>
          </a:p>
          <a:p>
            <a:pPr marL="0" indent="0">
              <a:spcBef>
                <a:spcPts val="2500"/>
              </a:spcBef>
              <a:buFont typeface="Arial" panose="020B0604020202020204" pitchFamily="34" charset="0"/>
              <a:buNone/>
            </a:pPr>
            <a:r>
              <a:rPr lang="en-US" b="1"/>
              <a:t>Pre-Meeting Configuration</a:t>
            </a:r>
          </a:p>
          <a:p>
            <a:pPr marL="0" lvl="1" indent="0">
              <a:buFont typeface="Arial" panose="020B0604020202020204" pitchFamily="34" charset="0"/>
              <a:buNone/>
            </a:pPr>
            <a:r>
              <a:t>Settings for access control must be configured prior to the meeting and cannot be changed afterward.</a:t>
            </a:r>
            <a:endParaRPr lang="en-US"/>
          </a:p>
          <a:p>
            <a:pPr marL="0" indent="0">
              <a:spcBef>
                <a:spcPts val="2500"/>
              </a:spcBef>
              <a:buFont typeface="Arial" panose="020B0604020202020204" pitchFamily="34" charset="0"/>
              <a:buNone/>
            </a:pPr>
            <a:r>
              <a:rPr lang="en-US" b="1"/>
              <a:t>Importance of Granularity</a:t>
            </a:r>
          </a:p>
          <a:p>
            <a:pPr marL="0" lvl="1" indent="0">
              <a:buFont typeface="Arial" panose="020B0604020202020204" pitchFamily="34" charset="0"/>
              <a:buNone/>
            </a:pPr>
            <a:r>
              <a:t>Granular access control is crucial for managing sensitive content and ensuring appropriate user permissions.</a:t>
            </a:r>
            <a:endParaRPr lang="en-US"/>
          </a:p>
        </p:txBody>
      </p:sp>
    </p:spTree>
    <p:extLst>
      <p:ext uri="{BB962C8B-B14F-4D97-AF65-F5344CB8AC3E}">
        <p14:creationId xmlns:p14="http://schemas.microsoft.com/office/powerpoint/2010/main" val="326425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9D06-72AB-8FCB-761A-3D69FF9140C0}"/>
              </a:ext>
            </a:extLst>
          </p:cNvPr>
          <p:cNvSpPr>
            <a:spLocks noGrp="1"/>
          </p:cNvSpPr>
          <p:nvPr>
            <p:ph type="title"/>
          </p:nvPr>
        </p:nvSpPr>
        <p:spPr>
          <a:xfrm>
            <a:off x="614677" y="1050111"/>
            <a:ext cx="3496147" cy="4940661"/>
          </a:xfrm>
        </p:spPr>
        <p:txBody>
          <a:bodyPr anchor="t">
            <a:normAutofit/>
          </a:bodyPr>
          <a:lstStyle/>
          <a:p>
            <a:r>
              <a:rPr lang="en-US"/>
              <a:t>Compliance and Privacy Controls</a:t>
            </a:r>
          </a:p>
        </p:txBody>
      </p:sp>
      <p:sp>
        <p:nvSpPr>
          <p:cNvPr id="3" name="Content Placeholder 2">
            <a:extLst>
              <a:ext uri="{FF2B5EF4-FFF2-40B4-BE49-F238E27FC236}">
                <a16:creationId xmlns:a16="http://schemas.microsoft.com/office/drawing/2014/main" id="{4DADFA70-5650-694F-5174-90E65E487C43}"/>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Participant Notification</a:t>
            </a:r>
          </a:p>
          <a:p>
            <a:pPr marL="0" lvl="1" indent="0">
              <a:buFont typeface="Arial" panose="020B0604020202020204" pitchFamily="34" charset="0"/>
              <a:buNone/>
            </a:pPr>
            <a:r>
              <a:t>Participants receive notifications when recording or transcription starts, ensuring transparency in communication.</a:t>
            </a:r>
            <a:endParaRPr lang="en-US"/>
          </a:p>
          <a:p>
            <a:pPr marL="0" indent="0">
              <a:spcBef>
                <a:spcPts val="2500"/>
              </a:spcBef>
              <a:buFont typeface="Arial" panose="020B0604020202020204" pitchFamily="34" charset="0"/>
              <a:buNone/>
            </a:pPr>
            <a:r>
              <a:rPr lang="en-US" b="1"/>
              <a:t>Consent Management</a:t>
            </a:r>
          </a:p>
          <a:p>
            <a:pPr marL="0" lvl="1" indent="0">
              <a:buFont typeface="Arial" panose="020B0604020202020204" pitchFamily="34" charset="0"/>
              <a:buNone/>
            </a:pPr>
            <a:r>
              <a:t>Explicit consent controls allow users to accept or decline recording, with non-consenting users having limited access.</a:t>
            </a:r>
            <a:endParaRPr lang="en-US"/>
          </a:p>
          <a:p>
            <a:pPr marL="0" indent="0">
              <a:spcBef>
                <a:spcPts val="2500"/>
              </a:spcBef>
              <a:buFont typeface="Arial" panose="020B0604020202020204" pitchFamily="34" charset="0"/>
              <a:buNone/>
            </a:pPr>
            <a:r>
              <a:rPr lang="en-US" b="1"/>
              <a:t>Data Residency Options</a:t>
            </a:r>
          </a:p>
          <a:p>
            <a:pPr marL="0" lvl="1" indent="0">
              <a:buFont typeface="Arial" panose="020B0604020202020204" pitchFamily="34" charset="0"/>
              <a:buNone/>
            </a:pPr>
            <a:r>
              <a:t>Data residency is set by the organizer's preferred location, supporting multi-geo data configurations securely.</a:t>
            </a:r>
            <a:endParaRPr lang="en-US"/>
          </a:p>
        </p:txBody>
      </p:sp>
    </p:spTree>
    <p:extLst>
      <p:ext uri="{BB962C8B-B14F-4D97-AF65-F5344CB8AC3E}">
        <p14:creationId xmlns:p14="http://schemas.microsoft.com/office/powerpoint/2010/main" val="3443055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D1727-8184-370F-00BA-446ADD4594FF}"/>
              </a:ext>
            </a:extLst>
          </p:cNvPr>
          <p:cNvSpPr>
            <a:spLocks noGrp="1"/>
          </p:cNvSpPr>
          <p:nvPr>
            <p:ph type="title"/>
          </p:nvPr>
        </p:nvSpPr>
        <p:spPr>
          <a:xfrm>
            <a:off x="111758" y="1869103"/>
            <a:ext cx="9337042" cy="4906929"/>
          </a:xfrm>
        </p:spPr>
        <p:txBody>
          <a:bodyPr anchor="b">
            <a:normAutofit/>
          </a:bodyPr>
          <a:lstStyle/>
          <a:p>
            <a:r>
              <a:rPr lang="en-US"/>
              <a:t>Implementation Guidance</a:t>
            </a:r>
          </a:p>
        </p:txBody>
      </p:sp>
    </p:spTree>
    <p:extLst>
      <p:ext uri="{BB962C8B-B14F-4D97-AF65-F5344CB8AC3E}">
        <p14:creationId xmlns:p14="http://schemas.microsoft.com/office/powerpoint/2010/main" val="1300883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4F45-7A15-EA01-840D-36E078EB24F4}"/>
              </a:ext>
            </a:extLst>
          </p:cNvPr>
          <p:cNvSpPr>
            <a:spLocks noGrp="1"/>
          </p:cNvSpPr>
          <p:nvPr>
            <p:ph type="title"/>
          </p:nvPr>
        </p:nvSpPr>
        <p:spPr>
          <a:xfrm>
            <a:off x="614677" y="1050111"/>
            <a:ext cx="3496147" cy="4940661"/>
          </a:xfrm>
        </p:spPr>
        <p:txBody>
          <a:bodyPr anchor="t">
            <a:normAutofit/>
          </a:bodyPr>
          <a:lstStyle/>
          <a:p>
            <a:r>
              <a:rPr lang="en-US"/>
              <a:t>Common Pitfalls</a:t>
            </a:r>
          </a:p>
        </p:txBody>
      </p:sp>
      <p:sp>
        <p:nvSpPr>
          <p:cNvPr id="3" name="Content Placeholder 2">
            <a:extLst>
              <a:ext uri="{FF2B5EF4-FFF2-40B4-BE49-F238E27FC236}">
                <a16:creationId xmlns:a16="http://schemas.microsoft.com/office/drawing/2014/main" id="{2364F0E3-A601-E7B2-4E54-A0B782E11F4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License Assumptions</a:t>
            </a:r>
          </a:p>
          <a:p>
            <a:pPr marL="0" lvl="1" indent="0">
              <a:buFont typeface="Arial" panose="020B0604020202020204" pitchFamily="34" charset="0"/>
              <a:buNone/>
            </a:pPr>
            <a:r>
              <a:t>Assuming all meeting attendees require Copilot licenses leads to unnecessary costs and confusion.</a:t>
            </a:r>
            <a:endParaRPr lang="en-US"/>
          </a:p>
          <a:p>
            <a:pPr marL="0" indent="0">
              <a:spcBef>
                <a:spcPts val="2500"/>
              </a:spcBef>
              <a:buFont typeface="Arial" panose="020B0604020202020204" pitchFamily="34" charset="0"/>
              <a:buNone/>
            </a:pPr>
            <a:r>
              <a:rPr lang="en-US" b="1"/>
              <a:t>'Only During Meeting' Misunderstanding</a:t>
            </a:r>
          </a:p>
          <a:p>
            <a:pPr marL="0" lvl="1" indent="0">
              <a:buFont typeface="Arial" panose="020B0604020202020204" pitchFamily="34" charset="0"/>
              <a:buNone/>
            </a:pPr>
            <a:r>
              <a:t>Misinterpreting the 'Only During Meeting' setting can cause limited Copilot functionality and user frustration.</a:t>
            </a:r>
            <a:endParaRPr lang="en-US"/>
          </a:p>
          <a:p>
            <a:pPr marL="0" indent="0">
              <a:spcBef>
                <a:spcPts val="2500"/>
              </a:spcBef>
              <a:buFont typeface="Arial" panose="020B0604020202020204" pitchFamily="34" charset="0"/>
              <a:buNone/>
            </a:pPr>
            <a:r>
              <a:rPr lang="en-US" b="1"/>
              <a:t>Overlooking Chat Integration</a:t>
            </a:r>
          </a:p>
          <a:p>
            <a:pPr marL="0" lvl="1" indent="0">
              <a:buFont typeface="Arial" panose="020B0604020202020204" pitchFamily="34" charset="0"/>
              <a:buNone/>
            </a:pPr>
            <a:r>
              <a:t>Ignoring meeting chat integration reduces collaboration efficiency and user experience.</a:t>
            </a:r>
            <a:endParaRPr lang="en-US"/>
          </a:p>
          <a:p>
            <a:pPr marL="0" indent="0">
              <a:spcBef>
                <a:spcPts val="2500"/>
              </a:spcBef>
              <a:buFont typeface="Arial" panose="020B0604020202020204" pitchFamily="34" charset="0"/>
              <a:buNone/>
            </a:pPr>
            <a:r>
              <a:rPr lang="en-US" b="1"/>
              <a:t>Organizer Ownership Changes</a:t>
            </a:r>
          </a:p>
          <a:p>
            <a:pPr marL="0" lvl="1" indent="0">
              <a:buFont typeface="Arial" panose="020B0604020202020204" pitchFamily="34" charset="0"/>
              <a:buNone/>
            </a:pPr>
            <a:r>
              <a:t>Forgetting to update organizer ownership can disrupt Copilot access and meeting workflows.</a:t>
            </a:r>
            <a:endParaRPr lang="en-US"/>
          </a:p>
        </p:txBody>
      </p:sp>
    </p:spTree>
    <p:extLst>
      <p:ext uri="{BB962C8B-B14F-4D97-AF65-F5344CB8AC3E}">
        <p14:creationId xmlns:p14="http://schemas.microsoft.com/office/powerpoint/2010/main" val="11039726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7246-FEB4-0605-862D-818D03E97E8D}"/>
              </a:ext>
            </a:extLst>
          </p:cNvPr>
          <p:cNvSpPr>
            <a:spLocks noGrp="1"/>
          </p:cNvSpPr>
          <p:nvPr>
            <p:ph type="title"/>
          </p:nvPr>
        </p:nvSpPr>
        <p:spPr>
          <a:xfrm>
            <a:off x="614677" y="1050111"/>
            <a:ext cx="3496147" cy="4940661"/>
          </a:xfrm>
        </p:spPr>
        <p:txBody>
          <a:bodyPr anchor="t">
            <a:normAutofit/>
          </a:bodyPr>
          <a:lstStyle/>
          <a:p>
            <a:r>
              <a:rPr lang="en-US"/>
              <a:t>Decision Framework</a:t>
            </a:r>
          </a:p>
        </p:txBody>
      </p:sp>
      <p:sp>
        <p:nvSpPr>
          <p:cNvPr id="3" name="Content Placeholder 2">
            <a:extLst>
              <a:ext uri="{FF2B5EF4-FFF2-40B4-BE49-F238E27FC236}">
                <a16:creationId xmlns:a16="http://schemas.microsoft.com/office/drawing/2014/main" id="{C949AC32-59E4-FE8A-5839-E21633CA7CD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Evaluation Criteria</a:t>
            </a:r>
          </a:p>
          <a:p>
            <a:pPr marL="0" lvl="1" indent="0">
              <a:buFont typeface="Arial" panose="020B0604020202020204" pitchFamily="34" charset="0"/>
              <a:buNone/>
            </a:pPr>
            <a:r>
              <a:t>Assess data sensitivity, budget constraints, compliance, user experience, and change management needs for deployment.</a:t>
            </a:r>
            <a:endParaRPr lang="en-US"/>
          </a:p>
          <a:p>
            <a:pPr marL="0" indent="0">
              <a:spcBef>
                <a:spcPts val="2500"/>
              </a:spcBef>
              <a:buFont typeface="Arial" panose="020B0604020202020204" pitchFamily="34" charset="0"/>
              <a:buNone/>
            </a:pPr>
            <a:r>
              <a:rPr lang="en-US" b="1"/>
              <a:t>Deployment Approaches</a:t>
            </a:r>
          </a:p>
          <a:p>
            <a:pPr marL="0" lvl="1" indent="0">
              <a:buFont typeface="Arial" panose="020B0604020202020204" pitchFamily="34" charset="0"/>
              <a:buNone/>
            </a:pPr>
            <a:r>
              <a:t>Common strategies include licensing executives, piloting in departments, and privacy-first configurations.</a:t>
            </a:r>
            <a:endParaRPr lang="en-US"/>
          </a:p>
          <a:p>
            <a:pPr marL="0" indent="0">
              <a:spcBef>
                <a:spcPts val="2500"/>
              </a:spcBef>
              <a:buFont typeface="Arial" panose="020B0604020202020204" pitchFamily="34" charset="0"/>
              <a:buNone/>
            </a:pPr>
            <a:r>
              <a:rPr lang="en-US" b="1"/>
              <a:t>Tailored Strategy</a:t>
            </a:r>
          </a:p>
          <a:p>
            <a:pPr marL="0" lvl="1" indent="0">
              <a:buFont typeface="Arial" panose="020B0604020202020204" pitchFamily="34" charset="0"/>
              <a:buNone/>
            </a:pPr>
            <a:r>
              <a:t>Organizations customize their approach to balance functionality, governance, and cost considerations effectively.</a:t>
            </a:r>
            <a:endParaRPr lang="en-US"/>
          </a:p>
        </p:txBody>
      </p:sp>
    </p:spTree>
    <p:extLst>
      <p:ext uri="{BB962C8B-B14F-4D97-AF65-F5344CB8AC3E}">
        <p14:creationId xmlns:p14="http://schemas.microsoft.com/office/powerpoint/2010/main" val="832751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04AD-778E-E85A-5FA6-822171D8D077}"/>
              </a:ext>
            </a:extLst>
          </p:cNvPr>
          <p:cNvSpPr>
            <a:spLocks noGrp="1"/>
          </p:cNvSpPr>
          <p:nvPr>
            <p:ph type="title"/>
          </p:nvPr>
        </p:nvSpPr>
        <p:spPr>
          <a:xfrm>
            <a:off x="111758" y="1869103"/>
            <a:ext cx="9337042" cy="4906929"/>
          </a:xfrm>
        </p:spPr>
        <p:txBody>
          <a:bodyPr anchor="b">
            <a:normAutofit/>
          </a:bodyPr>
          <a:lstStyle/>
          <a:p>
            <a:r>
              <a:rPr lang="en-US"/>
              <a:t>Conclusion and Q&amp;A</a:t>
            </a:r>
          </a:p>
        </p:txBody>
      </p:sp>
    </p:spTree>
    <p:extLst>
      <p:ext uri="{BB962C8B-B14F-4D97-AF65-F5344CB8AC3E}">
        <p14:creationId xmlns:p14="http://schemas.microsoft.com/office/powerpoint/2010/main" val="1921581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95998-A50C-1D9F-172A-0E20583ADA3F}"/>
              </a:ext>
            </a:extLst>
          </p:cNvPr>
          <p:cNvSpPr>
            <a:spLocks noGrp="1"/>
          </p:cNvSpPr>
          <p:nvPr>
            <p:ph type="title"/>
          </p:nvPr>
        </p:nvSpPr>
        <p:spPr>
          <a:xfrm>
            <a:off x="614677" y="1050111"/>
            <a:ext cx="3496147" cy="4940661"/>
          </a:xfrm>
        </p:spPr>
        <p:txBody>
          <a:bodyPr anchor="t">
            <a:normAutofit/>
          </a:bodyPr>
          <a:lstStyle/>
          <a:p>
            <a:r>
              <a:rPr lang="en-US"/>
              <a:t>Summary and Key Takeaways</a:t>
            </a:r>
          </a:p>
        </p:txBody>
      </p:sp>
      <p:sp>
        <p:nvSpPr>
          <p:cNvPr id="3" name="Content Placeholder 2">
            <a:extLst>
              <a:ext uri="{FF2B5EF4-FFF2-40B4-BE49-F238E27FC236}">
                <a16:creationId xmlns:a16="http://schemas.microsoft.com/office/drawing/2014/main" id="{7CCB34D4-54A8-FF5C-5D87-C68DD38C696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License and Meeting Control</a:t>
            </a:r>
          </a:p>
          <a:p>
            <a:pPr marL="0" lvl="1" indent="0">
              <a:buFont typeface="Arial" panose="020B0604020202020204" pitchFamily="34" charset="0"/>
              <a:buNone/>
            </a:pPr>
            <a:r>
              <a:t>Organizer's license and settings govern the meeting experience and AI features availability for attendees.</a:t>
            </a:r>
            <a:endParaRPr lang="en-US"/>
          </a:p>
          <a:p>
            <a:pPr marL="0" indent="0">
              <a:spcBef>
                <a:spcPts val="2500"/>
              </a:spcBef>
              <a:buFont typeface="Arial" panose="020B0604020202020204" pitchFamily="34" charset="0"/>
              <a:buNone/>
            </a:pPr>
            <a:r>
              <a:rPr lang="en-US" b="1"/>
              <a:t>Facilitator vs Copilot Roles</a:t>
            </a:r>
          </a:p>
          <a:p>
            <a:pPr marL="0" lvl="1" indent="0">
              <a:buFont typeface="Arial" panose="020B0604020202020204" pitchFamily="34" charset="0"/>
              <a:buNone/>
            </a:pPr>
            <a:r>
              <a:t>Facilitators manage public responses while Copilot provides private, AI-powered assistance during meetings.</a:t>
            </a:r>
            <a:endParaRPr lang="en-US"/>
          </a:p>
          <a:p>
            <a:pPr marL="0" indent="0">
              <a:spcBef>
                <a:spcPts val="2500"/>
              </a:spcBef>
              <a:buFont typeface="Arial" panose="020B0604020202020204" pitchFamily="34" charset="0"/>
              <a:buNone/>
            </a:pPr>
            <a:r>
              <a:rPr lang="en-US" b="1"/>
              <a:t>Data Retention Modes</a:t>
            </a:r>
          </a:p>
          <a:p>
            <a:pPr marL="0" lvl="1" indent="0">
              <a:buFont typeface="Arial" panose="020B0604020202020204" pitchFamily="34" charset="0"/>
              <a:buNone/>
            </a:pPr>
            <a:r>
              <a:t>'Only During' mode prevents data retention whereas 'During &amp; After' mode allows full AI capabilities with data saving.</a:t>
            </a:r>
            <a:endParaRPr lang="en-US"/>
          </a:p>
          <a:p>
            <a:pPr marL="0" indent="0">
              <a:spcBef>
                <a:spcPts val="2500"/>
              </a:spcBef>
              <a:buFont typeface="Arial" panose="020B0604020202020204" pitchFamily="34" charset="0"/>
              <a:buNone/>
            </a:pPr>
            <a:r>
              <a:rPr lang="en-US" b="1"/>
              <a:t>Change Management Importance</a:t>
            </a:r>
          </a:p>
          <a:p>
            <a:pPr marL="0" lvl="1" indent="0">
              <a:buFont typeface="Arial" panose="020B0604020202020204" pitchFamily="34" charset="0"/>
              <a:buNone/>
            </a:pPr>
            <a:r>
              <a:t>Successful deployment requires effective change management and educating users on new AI meeting features.</a:t>
            </a:r>
            <a:endParaRPr lang="en-US"/>
          </a:p>
        </p:txBody>
      </p:sp>
    </p:spTree>
    <p:extLst>
      <p:ext uri="{BB962C8B-B14F-4D97-AF65-F5344CB8AC3E}">
        <p14:creationId xmlns:p14="http://schemas.microsoft.com/office/powerpoint/2010/main" val="3892213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59E7-6F4D-6421-3CD7-034BAAC88A68}"/>
              </a:ext>
            </a:extLst>
          </p:cNvPr>
          <p:cNvSpPr>
            <a:spLocks noGrp="1"/>
          </p:cNvSpPr>
          <p:nvPr>
            <p:ph type="title"/>
          </p:nvPr>
        </p:nvSpPr>
        <p:spPr>
          <a:xfrm>
            <a:off x="614677" y="1050111"/>
            <a:ext cx="3496147" cy="4940661"/>
          </a:xfrm>
        </p:spPr>
        <p:txBody>
          <a:bodyPr anchor="t">
            <a:normAutofit/>
          </a:bodyPr>
          <a:lstStyle/>
          <a:p>
            <a:r>
              <a:rPr lang="en-US"/>
              <a:t>Q&amp;A Discussion</a:t>
            </a:r>
          </a:p>
        </p:txBody>
      </p:sp>
      <p:sp>
        <p:nvSpPr>
          <p:cNvPr id="3" name="Content Placeholder 2">
            <a:extLst>
              <a:ext uri="{FF2B5EF4-FFF2-40B4-BE49-F238E27FC236}">
                <a16:creationId xmlns:a16="http://schemas.microsoft.com/office/drawing/2014/main" id="{72651703-635F-306C-F43D-AE617A7606D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User Access Management</a:t>
            </a:r>
          </a:p>
          <a:p>
            <a:pPr marL="0" lvl="1" indent="0">
              <a:buFont typeface="Arial" panose="020B0604020202020204" pitchFamily="34" charset="0"/>
              <a:buNone/>
            </a:pPr>
            <a:r>
              <a:t>Discussion includes handling guest and external user access effectively within organizational policies.</a:t>
            </a:r>
            <a:endParaRPr lang="en-US"/>
          </a:p>
          <a:p>
            <a:pPr marL="0" indent="0">
              <a:spcBef>
                <a:spcPts val="2500"/>
              </a:spcBef>
              <a:buFont typeface="Arial" panose="020B0604020202020204" pitchFamily="34" charset="0"/>
              <a:buNone/>
            </a:pPr>
            <a:r>
              <a:rPr lang="en-US" b="1"/>
              <a:t>Admin Policy Conflicts</a:t>
            </a:r>
          </a:p>
          <a:p>
            <a:pPr marL="0" lvl="1" indent="0">
              <a:buFont typeface="Arial" panose="020B0604020202020204" pitchFamily="34" charset="0"/>
              <a:buNone/>
            </a:pPr>
            <a:r>
              <a:t>Resolving conflicts between different administrator policies to ensure smooth system operation.</a:t>
            </a:r>
            <a:endParaRPr lang="en-US"/>
          </a:p>
          <a:p>
            <a:pPr marL="0" indent="0">
              <a:spcBef>
                <a:spcPts val="2500"/>
              </a:spcBef>
              <a:buFont typeface="Arial" panose="020B0604020202020204" pitchFamily="34" charset="0"/>
              <a:buNone/>
            </a:pPr>
            <a:r>
              <a:rPr lang="en-US" b="1"/>
              <a:t>Licensing and Cost Comparison</a:t>
            </a:r>
          </a:p>
          <a:p>
            <a:pPr marL="0" lvl="1" indent="0">
              <a:buFont typeface="Arial" panose="020B0604020202020204" pitchFamily="34" charset="0"/>
              <a:buNone/>
            </a:pPr>
            <a:r>
              <a:t>Comparing pilot options and costs for Teams Premium versus Copilot to guide decision making.</a:t>
            </a:r>
            <a:endParaRPr lang="en-US"/>
          </a:p>
          <a:p>
            <a:pPr marL="0" indent="0">
              <a:spcBef>
                <a:spcPts val="2500"/>
              </a:spcBef>
              <a:buFont typeface="Arial" panose="020B0604020202020204" pitchFamily="34" charset="0"/>
              <a:buNone/>
            </a:pPr>
            <a:r>
              <a:rPr lang="en-US" b="1"/>
              <a:t>Future AI Roadmap</a:t>
            </a:r>
          </a:p>
          <a:p>
            <a:pPr marL="0" lvl="1" indent="0">
              <a:buFont typeface="Arial" panose="020B0604020202020204" pitchFamily="34" charset="0"/>
              <a:buNone/>
            </a:pPr>
            <a:r>
              <a:t>Understanding the roadmap for additional AI agents and future technology enhancements.</a:t>
            </a:r>
            <a:endParaRPr lang="en-US"/>
          </a:p>
        </p:txBody>
      </p:sp>
    </p:spTree>
    <p:extLst>
      <p:ext uri="{BB962C8B-B14F-4D97-AF65-F5344CB8AC3E}">
        <p14:creationId xmlns:p14="http://schemas.microsoft.com/office/powerpoint/2010/main" val="817456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0CEB72-9B64-43A4-9652-F0FED519FBF8}">
  <ds:schemaRefs>
    <ds:schemaRef ds:uri="http://purl.org/dc/dcmitype/"/>
    <ds:schemaRef ds:uri="71af3243-3dd4-4a8d-8c0d-dd76da1f02a5"/>
    <ds:schemaRef ds:uri="http://schemas.microsoft.com/office/2006/metadata/properties"/>
    <ds:schemaRef ds:uri="http://schemas.microsoft.com/office/2006/documentManagement/types"/>
    <ds:schemaRef ds:uri="http://purl.org/dc/terms/"/>
    <ds:schemaRef ds:uri="http://www.w3.org/XML/1998/namespace"/>
    <ds:schemaRef ds:uri="http://schemas.microsoft.com/office/infopath/2007/PartnerControls"/>
    <ds:schemaRef ds:uri="http://schemas.openxmlformats.org/package/2006/metadata/core-properties"/>
    <ds:schemaRef ds:uri="230e9df3-be65-4c73-a93b-d1236ebd677e"/>
    <ds:schemaRef ds:uri="16c05727-aa75-4e4a-9b5f-8a80a1165891"/>
    <ds:schemaRef ds:uri="http://schemas.microsoft.com/sharepoint/v3"/>
    <ds:schemaRef ds:uri="http://purl.org/dc/elements/1.1/"/>
  </ds:schemaRefs>
</ds:datastoreItem>
</file>

<file path=customXml/itemProps3.xml><?xml version="1.0" encoding="utf-8"?>
<ds:datastoreItem xmlns:ds="http://schemas.openxmlformats.org/officeDocument/2006/customXml" ds:itemID="{43B79205-1ECA-438E-AAC0-B28ABB0DD1EB}">
  <ds:schemaRefs>
    <ds:schemaRef ds:uri="http://schemas.microsoft.com/sharepoint/v3/contenttype/forms"/>
  </ds:schemaRefs>
</ds:datastoreItem>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Helena</Template>
  <TotalTime>523</TotalTime>
  <Words>3259</Words>
  <Application>Microsoft Macintosh PowerPoint</Application>
  <PresentationFormat>Widescreen</PresentationFormat>
  <Paragraphs>281</Paragraphs>
  <Slides>30</Slides>
  <Notes>30</Notes>
  <HiddenSlides>1</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Menlo</vt:lpstr>
      <vt:lpstr>Neue Haas Grotesk Text Pro</vt:lpstr>
      <vt:lpstr>Helena</vt:lpstr>
      <vt:lpstr>Microsoft 365 Copilot in Teams: Deep Dive</vt:lpstr>
      <vt:lpstr>Introduction and Agenda</vt:lpstr>
      <vt:lpstr>Title Slide</vt:lpstr>
      <vt:lpstr>Agenda Overview</vt:lpstr>
      <vt:lpstr>Feature and Policy Deep Dive</vt:lpstr>
      <vt:lpstr>Recent Policy Changes</vt:lpstr>
      <vt:lpstr>Copilot vs Teams Premium Features</vt:lpstr>
      <vt:lpstr>Copilot Operational Modes</vt:lpstr>
      <vt:lpstr>Copilot Agents and Capabilities</vt:lpstr>
      <vt:lpstr>Facilitator Agent</vt:lpstr>
      <vt:lpstr>Interpreter Agent</vt:lpstr>
      <vt:lpstr>Intelligence Recap</vt:lpstr>
      <vt:lpstr>Mixed License Scenarios</vt:lpstr>
      <vt:lpstr>License Impact on Attendees</vt:lpstr>
      <vt:lpstr>Scenario 1: Mixed License Meeting</vt:lpstr>
      <vt:lpstr>Scenario 2: 'Only During Meeting' Mode</vt:lpstr>
      <vt:lpstr>Voice and Calling Features</vt:lpstr>
      <vt:lpstr>Copilot in Calling Scenarios</vt:lpstr>
      <vt:lpstr>Teams Phone Device Support</vt:lpstr>
      <vt:lpstr>Advanced Controls and Compliance</vt:lpstr>
      <vt:lpstr>Multi-Tenant Organization Support</vt:lpstr>
      <vt:lpstr>Storage and Ownership Changes</vt:lpstr>
      <vt:lpstr>Granular Access Controls</vt:lpstr>
      <vt:lpstr>Compliance and Privacy Controls</vt:lpstr>
      <vt:lpstr>Implementation Guidance</vt:lpstr>
      <vt:lpstr>Common Pitfalls</vt:lpstr>
      <vt:lpstr>Decision Framework</vt:lpstr>
      <vt:lpstr>Conclusion and Q&amp;A</vt:lpstr>
      <vt:lpstr>Summary and Key Takeaways</vt:lpstr>
      <vt:lpstr>Q&amp;A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Warren du Toit</cp:lastModifiedBy>
  <cp:revision>4</cp:revision>
  <dcterms:created xsi:type="dcterms:W3CDTF">2025-08-21T23:24:42Z</dcterms:created>
  <dcterms:modified xsi:type="dcterms:W3CDTF">2025-10-20T10:23:15Z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